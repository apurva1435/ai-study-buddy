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5" r:id="rId3"/>
    <p:sldId id="266" r:id="rId4"/>
    <p:sldId id="269" r:id="rId5"/>
    <p:sldId id="305" r:id="rId6"/>
    <p:sldId id="264" r:id="rId7"/>
    <p:sldId id="267" r:id="rId8"/>
    <p:sldId id="268" r:id="rId9"/>
    <p:sldId id="270" r:id="rId10"/>
    <p:sldId id="304" r:id="rId11"/>
    <p:sldId id="272" r:id="rId12"/>
    <p:sldId id="273" r:id="rId13"/>
    <p:sldId id="274" r:id="rId14"/>
    <p:sldId id="275" r:id="rId15"/>
    <p:sldId id="276" r:id="rId16"/>
    <p:sldId id="277" r:id="rId17"/>
    <p:sldId id="278" r:id="rId18"/>
    <p:sldId id="279" r:id="rId19"/>
    <p:sldId id="280" r:id="rId20"/>
    <p:sldId id="281" r:id="rId21"/>
    <p:sldId id="298" r:id="rId22"/>
    <p:sldId id="299" r:id="rId23"/>
    <p:sldId id="300" r:id="rId24"/>
    <p:sldId id="301" r:id="rId25"/>
    <p:sldId id="302" r:id="rId26"/>
    <p:sldId id="282" r:id="rId27"/>
    <p:sldId id="283" r:id="rId28"/>
    <p:sldId id="284" r:id="rId29"/>
    <p:sldId id="285" r:id="rId30"/>
    <p:sldId id="286" r:id="rId31"/>
    <p:sldId id="287" r:id="rId32"/>
    <p:sldId id="288" r:id="rId33"/>
    <p:sldId id="303"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053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3EDAEAB-1C49-4632-A8F5-F70A70CD922E}"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376154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EDAEAB-1C49-4632-A8F5-F70A70CD922E}"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3297566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EDAEAB-1C49-4632-A8F5-F70A70CD922E}"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18098538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3EDAEAB-1C49-4632-A8F5-F70A70CD922E}"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3702994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3EDAEAB-1C49-4632-A8F5-F70A70CD922E}" type="datetimeFigureOut">
              <a:rPr lang="en-IN" smtClean="0"/>
              <a:t>30-01-2026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2252527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3EDAEAB-1C49-4632-A8F5-F70A70CD922E}" type="datetimeFigureOut">
              <a:rPr lang="en-IN" smtClean="0"/>
              <a:t>30-01-2026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331249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EDAEAB-1C49-4632-A8F5-F70A70CD922E}" type="datetimeFigureOut">
              <a:rPr lang="en-IN" smtClean="0"/>
              <a:t>30-01-2026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544512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EDAEAB-1C49-4632-A8F5-F70A70CD922E}"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2579230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EDAEAB-1C49-4632-A8F5-F70A70CD922E}" type="datetimeFigureOut">
              <a:rPr lang="en-IN" smtClean="0"/>
              <a:t>30-01-2026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1448571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EDAEAB-1C49-4632-A8F5-F70A70CD922E}"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470081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3EDAEAB-1C49-4632-A8F5-F70A70CD922E}" type="datetimeFigureOut">
              <a:rPr lang="en-IN" smtClean="0"/>
              <a:t>30-01-2026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E18D15F-2D06-4559-B761-DD17385FE034}" type="slidenum">
              <a:rPr lang="en-IN" smtClean="0"/>
              <a:t>‹#›</a:t>
            </a:fld>
            <a:endParaRPr lang="en-IN"/>
          </a:p>
        </p:txBody>
      </p:sp>
    </p:spTree>
    <p:extLst>
      <p:ext uri="{BB962C8B-B14F-4D97-AF65-F5344CB8AC3E}">
        <p14:creationId xmlns:p14="http://schemas.microsoft.com/office/powerpoint/2010/main" val="10949345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EDAEAB-1C49-4632-A8F5-F70A70CD922E}" type="datetimeFigureOut">
              <a:rPr lang="en-IN" smtClean="0"/>
              <a:t>30-01-2026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18D15F-2D06-4559-B761-DD17385FE034}" type="slidenum">
              <a:rPr lang="en-IN" smtClean="0"/>
              <a:t>‹#›</a:t>
            </a:fld>
            <a:endParaRPr lang="en-IN"/>
          </a:p>
        </p:txBody>
      </p:sp>
    </p:spTree>
    <p:extLst>
      <p:ext uri="{BB962C8B-B14F-4D97-AF65-F5344CB8AC3E}">
        <p14:creationId xmlns:p14="http://schemas.microsoft.com/office/powerpoint/2010/main" val="12030989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geeksforgeeks.org/dsa/minimax-algorithm-in-game-theory-set-1-introduction/"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arxiv.org/pdf/1511.06434.pdf" TargetMode="External"/><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arxiv.org/pdf/1511.06434.pdf" TargetMode="External"/><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 xmlns:a16="http://schemas.microsoft.com/office/drawing/2014/main" id="{1276806C-4453-EF1D-D369-6CFF5003441B}"/>
              </a:ext>
            </a:extLst>
          </p:cNvPr>
          <p:cNvPicPr>
            <a:picLocks noChangeAspect="1"/>
          </p:cNvPicPr>
          <p:nvPr/>
        </p:nvPicPr>
        <p:blipFill>
          <a:blip r:embed="rId2"/>
          <a:stretch>
            <a:fillRect/>
          </a:stretch>
        </p:blipFill>
        <p:spPr>
          <a:xfrm>
            <a:off x="0" y="910986"/>
            <a:ext cx="12192000" cy="4915261"/>
          </a:xfrm>
          <a:prstGeom prst="rect">
            <a:avLst/>
          </a:prstGeom>
        </p:spPr>
      </p:pic>
    </p:spTree>
    <p:extLst>
      <p:ext uri="{BB962C8B-B14F-4D97-AF65-F5344CB8AC3E}">
        <p14:creationId xmlns:p14="http://schemas.microsoft.com/office/powerpoint/2010/main" val="205444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istinguishing Deep Learning, Machine Learning, and Artificial ...">
            <a:extLst>
              <a:ext uri="{FF2B5EF4-FFF2-40B4-BE49-F238E27FC236}">
                <a16:creationId xmlns="" xmlns:a16="http://schemas.microsoft.com/office/drawing/2014/main" id="{A57CCF24-B108-EDFE-1BCE-CAD38AA47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4301" y="132860"/>
            <a:ext cx="6748492" cy="672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0723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CD60DE14-9995-CA34-8002-AF18A601A6B5}"/>
              </a:ext>
            </a:extLst>
          </p:cNvPr>
          <p:cNvSpPr>
            <a:spLocks noGrp="1"/>
          </p:cNvSpPr>
          <p:nvPr>
            <p:ph idx="1"/>
          </p:nvPr>
        </p:nvSpPr>
        <p:spPr>
          <a:xfrm>
            <a:off x="838200" y="543464"/>
            <a:ext cx="10515600" cy="5633499"/>
          </a:xfrm>
        </p:spPr>
        <p:txBody>
          <a:bodyPr/>
          <a:lstStyle/>
          <a:p>
            <a:pPr algn="just"/>
            <a:r>
              <a:rPr lang="en-US" sz="3200" dirty="0"/>
              <a:t>What Is Artificial Intelligence?</a:t>
            </a:r>
          </a:p>
          <a:p>
            <a:pPr algn="just"/>
            <a:r>
              <a:rPr lang="en-US" sz="3200" dirty="0"/>
              <a:t>What Is  Machine Learning?</a:t>
            </a:r>
          </a:p>
          <a:p>
            <a:pPr algn="just"/>
            <a:r>
              <a:rPr lang="en-US" sz="3200" dirty="0"/>
              <a:t>What is Deep Learning?</a:t>
            </a:r>
          </a:p>
          <a:p>
            <a:pPr algn="just"/>
            <a:r>
              <a:rPr lang="en-US" sz="3200" dirty="0"/>
              <a:t>What are Neural Networks?</a:t>
            </a:r>
          </a:p>
          <a:p>
            <a:pPr algn="just"/>
            <a:r>
              <a:rPr lang="en-US" sz="3200" dirty="0"/>
              <a:t>Difference between AI,ML,DL</a:t>
            </a:r>
          </a:p>
          <a:p>
            <a:pPr marL="0" indent="0">
              <a:buNone/>
            </a:pPr>
            <a:endParaRPr lang="en-US" dirty="0"/>
          </a:p>
        </p:txBody>
      </p:sp>
    </p:spTree>
    <p:extLst>
      <p:ext uri="{BB962C8B-B14F-4D97-AF65-F5344CB8AC3E}">
        <p14:creationId xmlns:p14="http://schemas.microsoft.com/office/powerpoint/2010/main" val="3890077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19618E4-8297-2BBD-6A5A-423C8B3C6C7C}"/>
              </a:ext>
            </a:extLst>
          </p:cNvPr>
          <p:cNvSpPr txBox="1"/>
          <p:nvPr/>
        </p:nvSpPr>
        <p:spPr>
          <a:xfrm>
            <a:off x="353682" y="172532"/>
            <a:ext cx="11576649" cy="5262979"/>
          </a:xfrm>
          <a:prstGeom prst="rect">
            <a:avLst/>
          </a:prstGeom>
          <a:noFill/>
        </p:spPr>
        <p:txBody>
          <a:bodyPr wrap="square">
            <a:spAutoFit/>
          </a:bodyPr>
          <a:lstStyle/>
          <a:p>
            <a:pPr marL="457200" indent="-457200" algn="just">
              <a:buFont typeface="Arial" panose="020B0604020202020204" pitchFamily="34" charset="0"/>
              <a:buChar char="•"/>
            </a:pPr>
            <a:r>
              <a:rPr lang="en-US" sz="2800" b="1" dirty="0"/>
              <a:t>Deep Neural Networks (DNNs) </a:t>
            </a:r>
            <a:r>
              <a:rPr lang="en-US" sz="2800" dirty="0"/>
              <a:t>are advanced artificial neural networks that contain multiple hidden layers between the input and output layers.</a:t>
            </a:r>
          </a:p>
          <a:p>
            <a:pPr marL="457200" indent="-457200" algn="just">
              <a:buFont typeface="Arial" panose="020B0604020202020204" pitchFamily="34" charset="0"/>
              <a:buChar char="•"/>
            </a:pPr>
            <a:r>
              <a:rPr lang="en-US" sz="2800" dirty="0"/>
              <a:t>These layers enable the network to learn hierarchical representations of data, making DNNs highly effective for solving complex problems. </a:t>
            </a:r>
          </a:p>
          <a:p>
            <a:pPr marL="457200" indent="-457200" algn="just">
              <a:buFont typeface="Arial" panose="020B0604020202020204" pitchFamily="34" charset="0"/>
              <a:buChar char="•"/>
            </a:pPr>
            <a:r>
              <a:rPr lang="en-US" sz="2800" dirty="0"/>
              <a:t>Unlike traditional machine learning algorithms, deep neural networks automatically extract meaningful features from raw data. </a:t>
            </a:r>
          </a:p>
          <a:p>
            <a:pPr marL="457200" indent="-457200" algn="just">
              <a:buFont typeface="Arial" panose="020B0604020202020204" pitchFamily="34" charset="0"/>
              <a:buChar char="•"/>
            </a:pPr>
            <a:r>
              <a:rPr lang="en-US" sz="2800" dirty="0"/>
              <a:t>DNNs are extensively used in real-world applications such as voice assistants, autonomous vehicles, medical diagnosis, and recommendation systems. </a:t>
            </a:r>
          </a:p>
          <a:p>
            <a:pPr marL="457200" indent="-457200" algn="just">
              <a:buFont typeface="Arial" panose="020B0604020202020204" pitchFamily="34" charset="0"/>
              <a:buChar char="•"/>
            </a:pPr>
            <a:r>
              <a:rPr lang="en-US" sz="2800" dirty="0"/>
              <a:t>With the rapid growth of artificial intelligence and availability of large datasets, deep neural networks have become a fundamental component of intelligent systems.</a:t>
            </a:r>
            <a:endParaRPr lang="en-IN" sz="2800" dirty="0"/>
          </a:p>
        </p:txBody>
      </p:sp>
    </p:spTree>
    <p:extLst>
      <p:ext uri="{BB962C8B-B14F-4D97-AF65-F5344CB8AC3E}">
        <p14:creationId xmlns:p14="http://schemas.microsoft.com/office/powerpoint/2010/main" val="1734191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138" y="315885"/>
            <a:ext cx="11089178" cy="2246769"/>
          </a:xfrm>
          <a:prstGeom prst="rect">
            <a:avLst/>
          </a:prstGeom>
        </p:spPr>
        <p:txBody>
          <a:bodyPr wrap="square">
            <a:spAutoFit/>
          </a:bodyPr>
          <a:lstStyle/>
          <a:p>
            <a:pPr algn="just"/>
            <a:r>
              <a:rPr lang="en-US" sz="2800" b="1" dirty="0" smtClean="0"/>
              <a:t>Module 1 : </a:t>
            </a:r>
          </a:p>
          <a:p>
            <a:pPr algn="just"/>
            <a:r>
              <a:rPr lang="en-US" sz="2800" b="1" dirty="0" smtClean="0"/>
              <a:t>GENERATIVE </a:t>
            </a:r>
            <a:r>
              <a:rPr lang="en-US" sz="2800" b="1" dirty="0"/>
              <a:t>ADVERSARIAL NETWORKS (GANS): Generative models, Concept and principles of GANs, Architecture of GANs (generator and discriminator networks), Comparison between discriminative and generative models, </a:t>
            </a:r>
            <a:r>
              <a:rPr lang="en-US" sz="2800" b="1" dirty="0" smtClean="0"/>
              <a:t>Applications of </a:t>
            </a:r>
            <a:r>
              <a:rPr lang="en-US" sz="2800" b="1" dirty="0"/>
              <a:t>GANs</a:t>
            </a:r>
            <a:endParaRPr lang="en-IN" sz="2800" b="1" dirty="0"/>
          </a:p>
        </p:txBody>
      </p:sp>
    </p:spTree>
    <p:extLst>
      <p:ext uri="{BB962C8B-B14F-4D97-AF65-F5344CB8AC3E}">
        <p14:creationId xmlns:p14="http://schemas.microsoft.com/office/powerpoint/2010/main" val="366167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AAA13A80-04DF-9177-A560-CBD333391A30}"/>
              </a:ext>
            </a:extLst>
          </p:cNvPr>
          <p:cNvSpPr txBox="1"/>
          <p:nvPr/>
        </p:nvSpPr>
        <p:spPr>
          <a:xfrm>
            <a:off x="474452" y="241542"/>
            <a:ext cx="10662249" cy="6247864"/>
          </a:xfrm>
          <a:prstGeom prst="rect">
            <a:avLst/>
          </a:prstGeom>
          <a:noFill/>
        </p:spPr>
        <p:txBody>
          <a:bodyPr wrap="square">
            <a:spAutoFit/>
          </a:bodyPr>
          <a:lstStyle/>
          <a:p>
            <a:pPr algn="just"/>
            <a:r>
              <a:rPr lang="en-US" sz="3200" b="1" dirty="0"/>
              <a:t>Generative modelling</a:t>
            </a:r>
            <a:r>
              <a:rPr lang="en-US" sz="3200" dirty="0"/>
              <a:t> is a machine learning approach where a computer </a:t>
            </a:r>
            <a:r>
              <a:rPr lang="en-US" sz="3200" b="1" dirty="0"/>
              <a:t>learns patterns from existing data and then creates new data that looks similar to the original data</a:t>
            </a:r>
            <a:r>
              <a:rPr lang="en-US" sz="3200" dirty="0"/>
              <a:t>.</a:t>
            </a:r>
          </a:p>
          <a:p>
            <a:pPr algn="just"/>
            <a:r>
              <a:rPr lang="en-US" sz="3200" dirty="0"/>
              <a:t>A generative model is a machine learning model designed to create new data that is similar to its training data.</a:t>
            </a:r>
          </a:p>
          <a:p>
            <a:pPr algn="just"/>
            <a:r>
              <a:rPr lang="en-US" sz="3200" dirty="0"/>
              <a:t>Generative artificial intelligence (AI) models learn the patterns and distributions of the training data, then apply those understandings to generate novel content in response to new input data. </a:t>
            </a:r>
          </a:p>
          <a:p>
            <a:pPr algn="just"/>
            <a:endParaRPr lang="en-IN" sz="2800" dirty="0"/>
          </a:p>
          <a:p>
            <a:pPr algn="just"/>
            <a:endParaRPr lang="en-IN" sz="2800" dirty="0"/>
          </a:p>
          <a:p>
            <a:pPr algn="just"/>
            <a:endParaRPr lang="en-IN" sz="2800" dirty="0"/>
          </a:p>
          <a:p>
            <a:pPr algn="just"/>
            <a:endParaRPr lang="en-IN" sz="2800" dirty="0"/>
          </a:p>
        </p:txBody>
      </p:sp>
    </p:spTree>
    <p:extLst>
      <p:ext uri="{BB962C8B-B14F-4D97-AF65-F5344CB8AC3E}">
        <p14:creationId xmlns:p14="http://schemas.microsoft.com/office/powerpoint/2010/main" val="4184534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C832221C-428F-8491-583E-68DB84CBEDDB}"/>
              </a:ext>
            </a:extLst>
          </p:cNvPr>
          <p:cNvSpPr txBox="1"/>
          <p:nvPr/>
        </p:nvSpPr>
        <p:spPr>
          <a:xfrm>
            <a:off x="534838" y="138025"/>
            <a:ext cx="11179834" cy="4524315"/>
          </a:xfrm>
          <a:prstGeom prst="rect">
            <a:avLst/>
          </a:prstGeom>
          <a:noFill/>
        </p:spPr>
        <p:txBody>
          <a:bodyPr wrap="square">
            <a:spAutoFit/>
          </a:bodyPr>
          <a:lstStyle/>
          <a:p>
            <a:pPr algn="just"/>
            <a:r>
              <a:rPr lang="en-US" sz="3200" b="1" dirty="0"/>
              <a:t>How do generative models differ from traditional machine learning models?</a:t>
            </a:r>
          </a:p>
          <a:p>
            <a:pPr marL="457200" indent="-457200" algn="just">
              <a:buFont typeface="Arial" panose="020B0604020202020204" pitchFamily="34" charset="0"/>
              <a:buChar char="•"/>
            </a:pPr>
            <a:r>
              <a:rPr lang="en-US" sz="3200" dirty="0"/>
              <a:t>Traditional machine learning models are typically trained to perform specific tasks like classification or regression. </a:t>
            </a:r>
          </a:p>
          <a:p>
            <a:pPr marL="457200" indent="-457200" algn="just">
              <a:buFont typeface="Arial" panose="020B0604020202020204" pitchFamily="34" charset="0"/>
              <a:buChar char="•"/>
            </a:pPr>
            <a:r>
              <a:rPr lang="en-US" sz="3200" dirty="0"/>
              <a:t>They take input data and produce a specific output, like a category label.</a:t>
            </a:r>
          </a:p>
          <a:p>
            <a:pPr marL="457200" indent="-457200" algn="just">
              <a:buFont typeface="Arial" panose="020B0604020202020204" pitchFamily="34" charset="0"/>
              <a:buChar char="•"/>
            </a:pPr>
            <a:r>
              <a:rPr lang="en-US" sz="3200" dirty="0"/>
              <a:t>Generative models, on the other hand, are trained to understand the underlying distribution of the data and can generate new data samples that resemble the training data.</a:t>
            </a:r>
          </a:p>
        </p:txBody>
      </p:sp>
    </p:spTree>
    <p:extLst>
      <p:ext uri="{BB962C8B-B14F-4D97-AF65-F5344CB8AC3E}">
        <p14:creationId xmlns:p14="http://schemas.microsoft.com/office/powerpoint/2010/main" val="41502876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Generative vs Discriminative Models: Examples - Analytics Yogi">
            <a:extLst>
              <a:ext uri="{FF2B5EF4-FFF2-40B4-BE49-F238E27FC236}">
                <a16:creationId xmlns="" xmlns:a16="http://schemas.microsoft.com/office/drawing/2014/main" id="{07D6F304-C325-5C72-77DF-4D5520C9B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2063" y="1300163"/>
            <a:ext cx="9667875"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906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140155E6-25F1-5494-D0CF-92151F8AD220}"/>
              </a:ext>
            </a:extLst>
          </p:cNvPr>
          <p:cNvPicPr>
            <a:picLocks noChangeAspect="1"/>
          </p:cNvPicPr>
          <p:nvPr/>
        </p:nvPicPr>
        <p:blipFill>
          <a:blip r:embed="rId2"/>
          <a:stretch>
            <a:fillRect/>
          </a:stretch>
        </p:blipFill>
        <p:spPr>
          <a:xfrm>
            <a:off x="15973" y="-93446"/>
            <a:ext cx="12035130" cy="6787545"/>
          </a:xfrm>
          <a:prstGeom prst="rect">
            <a:avLst/>
          </a:prstGeom>
        </p:spPr>
      </p:pic>
    </p:spTree>
    <p:extLst>
      <p:ext uri="{BB962C8B-B14F-4D97-AF65-F5344CB8AC3E}">
        <p14:creationId xmlns:p14="http://schemas.microsoft.com/office/powerpoint/2010/main" val="416851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3697C9CE-9611-2E7B-DEE5-B9CCED99FA9B}"/>
              </a:ext>
            </a:extLst>
          </p:cNvPr>
          <p:cNvSpPr txBox="1"/>
          <p:nvPr/>
        </p:nvSpPr>
        <p:spPr>
          <a:xfrm>
            <a:off x="621102" y="612475"/>
            <a:ext cx="11248845" cy="5304016"/>
          </a:xfrm>
          <a:prstGeom prst="rect">
            <a:avLst/>
          </a:prstGeom>
          <a:noFill/>
        </p:spPr>
        <p:txBody>
          <a:bodyPr wrap="square">
            <a:spAutoFit/>
          </a:bodyPr>
          <a:lstStyle/>
          <a:p>
            <a:pPr algn="just">
              <a:spcBef>
                <a:spcPts val="2100"/>
              </a:spcBef>
              <a:spcAft>
                <a:spcPts val="1050"/>
              </a:spcAft>
              <a:buNone/>
            </a:pPr>
            <a:r>
              <a:rPr lang="en-US" sz="2400" b="1" i="0" dirty="0">
                <a:solidFill>
                  <a:srgbClr val="29294B"/>
                </a:solidFill>
                <a:effectLst/>
                <a:latin typeface="DM Sans" pitchFamily="2" charset="0"/>
              </a:rPr>
              <a:t>Why Generative Adversarial Networks(GANs)?</a:t>
            </a:r>
          </a:p>
          <a:p>
            <a:pPr marL="342900" indent="-342900" algn="just" fontAlgn="base">
              <a:buFont typeface="Arial" panose="020B0604020202020204" pitchFamily="34" charset="0"/>
              <a:buChar char="•"/>
            </a:pPr>
            <a:r>
              <a:rPr lang="en-US" sz="2400" b="0" i="0" dirty="0">
                <a:solidFill>
                  <a:srgbClr val="29294B"/>
                </a:solidFill>
                <a:effectLst/>
                <a:latin typeface="DM Sans" pitchFamily="2" charset="0"/>
              </a:rPr>
              <a:t>If your training data is insufficient, no problem. GANs can learn about your data and generate synthetic images that augment your dataset.</a:t>
            </a:r>
          </a:p>
          <a:p>
            <a:pPr marL="342900" indent="-342900" algn="just" fontAlgn="base">
              <a:buFont typeface="Arial" panose="020B0604020202020204" pitchFamily="34" charset="0"/>
              <a:buChar char="•"/>
            </a:pPr>
            <a:r>
              <a:rPr lang="en-US" sz="2400" b="0" i="0" dirty="0">
                <a:solidFill>
                  <a:srgbClr val="29294B"/>
                </a:solidFill>
                <a:effectLst/>
                <a:latin typeface="DM Sans" pitchFamily="2" charset="0"/>
              </a:rPr>
              <a:t>Can create images that look like photographs of human faces, even though the faces don’t belong to any real person from the given distribution. Isn’t that incredible?</a:t>
            </a:r>
          </a:p>
          <a:p>
            <a:pPr marL="342900" indent="-342900" algn="just" fontAlgn="base">
              <a:buFont typeface="Arial" panose="020B0604020202020204" pitchFamily="34" charset="0"/>
              <a:buChar char="•"/>
            </a:pPr>
            <a:r>
              <a:rPr lang="en-US" sz="2400" b="0" i="0" dirty="0">
                <a:solidFill>
                  <a:srgbClr val="29294B"/>
                </a:solidFill>
                <a:effectLst/>
                <a:latin typeface="DM Sans" pitchFamily="2" charset="0"/>
              </a:rPr>
              <a:t>Generate images from descriptions (text-to-image synthesis). </a:t>
            </a:r>
          </a:p>
          <a:p>
            <a:pPr marL="342900" indent="-342900" algn="just" fontAlgn="base">
              <a:buFont typeface="Arial" panose="020B0604020202020204" pitchFamily="34" charset="0"/>
              <a:buChar char="•"/>
            </a:pPr>
            <a:r>
              <a:rPr lang="en-US" sz="2400" b="0" i="0" dirty="0">
                <a:solidFill>
                  <a:srgbClr val="29294B"/>
                </a:solidFill>
                <a:effectLst/>
                <a:latin typeface="DM Sans" pitchFamily="2" charset="0"/>
              </a:rPr>
              <a:t>Improve the resolution of a video that captures finer details (low-resolution to high-resolution).</a:t>
            </a:r>
          </a:p>
          <a:p>
            <a:pPr marL="342900" indent="-342900" algn="just" fontAlgn="base">
              <a:buFont typeface="Arial" panose="020B0604020202020204" pitchFamily="34" charset="0"/>
              <a:buChar char="•"/>
            </a:pPr>
            <a:r>
              <a:rPr lang="en-US" sz="2400" b="0" i="0" dirty="0">
                <a:solidFill>
                  <a:srgbClr val="29294B"/>
                </a:solidFill>
                <a:effectLst/>
                <a:latin typeface="DM Sans" pitchFamily="2" charset="0"/>
              </a:rPr>
              <a:t>Even in the audio domain, GANs can be used to produce synthetic, high-fidelity audio or perform voice translations.</a:t>
            </a:r>
          </a:p>
          <a:p>
            <a:pPr marL="342900" indent="-342900" algn="just">
              <a:spcBef>
                <a:spcPts val="2100"/>
              </a:spcBef>
              <a:spcAft>
                <a:spcPts val="2100"/>
              </a:spcAft>
              <a:buFont typeface="Arial" panose="020B0604020202020204" pitchFamily="34" charset="0"/>
              <a:buChar char="•"/>
            </a:pPr>
            <a:r>
              <a:rPr lang="en-US" sz="2400" b="0" i="0" dirty="0">
                <a:solidFill>
                  <a:srgbClr val="29294B"/>
                </a:solidFill>
                <a:effectLst/>
                <a:latin typeface="DM Sans" pitchFamily="2" charset="0"/>
              </a:rPr>
              <a:t>This is not all. GANs can do more. No wonder they are so powerful and in demand today!</a:t>
            </a:r>
          </a:p>
        </p:txBody>
      </p:sp>
    </p:spTree>
    <p:extLst>
      <p:ext uri="{BB962C8B-B14F-4D97-AF65-F5344CB8AC3E}">
        <p14:creationId xmlns:p14="http://schemas.microsoft.com/office/powerpoint/2010/main" val="4001864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D93AA93-ED30-C6F3-A631-0C78E855BAFF}"/>
              </a:ext>
            </a:extLst>
          </p:cNvPr>
          <p:cNvSpPr txBox="1"/>
          <p:nvPr/>
        </p:nvSpPr>
        <p:spPr>
          <a:xfrm>
            <a:off x="405442" y="491706"/>
            <a:ext cx="11602528" cy="6494085"/>
          </a:xfrm>
          <a:prstGeom prst="rect">
            <a:avLst/>
          </a:prstGeom>
          <a:noFill/>
        </p:spPr>
        <p:txBody>
          <a:bodyPr wrap="square">
            <a:spAutoFit/>
          </a:bodyPr>
          <a:lstStyle/>
          <a:p>
            <a:pPr marL="457200" indent="-457200" algn="just">
              <a:buFont typeface="Arial" panose="020B0604020202020204" pitchFamily="34" charset="0"/>
              <a:buChar char="•"/>
            </a:pPr>
            <a:r>
              <a:rPr lang="en-US" sz="3200" b="0" i="0" dirty="0">
                <a:solidFill>
                  <a:srgbClr val="212529"/>
                </a:solidFill>
                <a:effectLst/>
              </a:rPr>
              <a:t>In 2014, </a:t>
            </a:r>
            <a:r>
              <a:rPr lang="en-US" sz="3200" b="1" i="0" dirty="0">
                <a:solidFill>
                  <a:srgbClr val="212529"/>
                </a:solidFill>
                <a:effectLst/>
              </a:rPr>
              <a:t>Ian Goodfellow</a:t>
            </a:r>
            <a:r>
              <a:rPr lang="en-US" sz="3200" b="0" i="0" dirty="0">
                <a:solidFill>
                  <a:srgbClr val="212529"/>
                </a:solidFill>
                <a:effectLst/>
              </a:rPr>
              <a:t> and his team introduced </a:t>
            </a:r>
            <a:r>
              <a:rPr lang="en-US" sz="3200" b="1" i="0" dirty="0">
                <a:solidFill>
                  <a:srgbClr val="212529"/>
                </a:solidFill>
                <a:effectLst/>
              </a:rPr>
              <a:t>Generative Adversarial Networks (GANs)</a:t>
            </a:r>
            <a:r>
              <a:rPr lang="en-US" sz="3200" b="0" i="0" dirty="0">
                <a:solidFill>
                  <a:srgbClr val="212529"/>
                </a:solidFill>
                <a:effectLst/>
              </a:rPr>
              <a:t>, a breakthrough in artificial intelligence (AI) that transformed how machines generate synthetic data. </a:t>
            </a:r>
            <a:endParaRPr lang="en-US" sz="3200" dirty="0">
              <a:solidFill>
                <a:srgbClr val="212529"/>
              </a:solidFill>
            </a:endParaRPr>
          </a:p>
          <a:p>
            <a:pPr marL="457200" indent="-457200" algn="just">
              <a:buFont typeface="Arial" panose="020B0604020202020204" pitchFamily="34" charset="0"/>
              <a:buChar char="•"/>
            </a:pPr>
            <a:r>
              <a:rPr lang="en-US" sz="3200" b="0" i="0" dirty="0">
                <a:solidFill>
                  <a:srgbClr val="212529"/>
                </a:solidFill>
                <a:effectLst/>
              </a:rPr>
              <a:t>By pitting two neural networks against each other, GANs unlocked unprecedented capabilities in creating realistic images, videos, and datasets, paving the way for innovations across industries.</a:t>
            </a:r>
            <a:endParaRPr lang="en-US" sz="3200" dirty="0">
              <a:solidFill>
                <a:srgbClr val="212529"/>
              </a:solidFill>
            </a:endParaRPr>
          </a:p>
          <a:p>
            <a:pPr marL="457200" indent="-457200" algn="just">
              <a:buFont typeface="Arial" panose="020B0604020202020204" pitchFamily="34" charset="0"/>
              <a:buChar char="•"/>
            </a:pPr>
            <a:r>
              <a:rPr lang="en-US" altLang="en-US" sz="3200" dirty="0">
                <a:solidFill>
                  <a:srgbClr val="273239"/>
                </a:solidFill>
              </a:rPr>
              <a:t>Unlike traditional models that only recognize or classify data, they take a creative way by generating entirely new content that closely resembles real-world data. </a:t>
            </a:r>
          </a:p>
          <a:p>
            <a:pPr marL="457200" indent="-457200" algn="just">
              <a:buFont typeface="Arial" panose="020B0604020202020204" pitchFamily="34" charset="0"/>
              <a:buChar char="•"/>
            </a:pPr>
            <a:r>
              <a:rPr lang="en-US" altLang="en-US" sz="3200" dirty="0">
                <a:solidFill>
                  <a:srgbClr val="273239"/>
                </a:solidFill>
              </a:rPr>
              <a:t>This ability helped various fields such as art, gaming, healthcare and data science</a:t>
            </a:r>
          </a:p>
          <a:p>
            <a:pPr algn="just"/>
            <a:endParaRPr lang="en-IN" sz="3200" dirty="0"/>
          </a:p>
        </p:txBody>
      </p:sp>
    </p:spTree>
    <p:extLst>
      <p:ext uri="{BB962C8B-B14F-4D97-AF65-F5344CB8AC3E}">
        <p14:creationId xmlns:p14="http://schemas.microsoft.com/office/powerpoint/2010/main" val="7114131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16EEF1A-5F49-5CB1-7758-491E3F0C4A90}"/>
              </a:ext>
            </a:extLst>
          </p:cNvPr>
          <p:cNvSpPr txBox="1"/>
          <p:nvPr/>
        </p:nvSpPr>
        <p:spPr>
          <a:xfrm>
            <a:off x="414068" y="198411"/>
            <a:ext cx="11464506" cy="5509200"/>
          </a:xfrm>
          <a:prstGeom prst="rect">
            <a:avLst/>
          </a:prstGeom>
          <a:noFill/>
        </p:spPr>
        <p:txBody>
          <a:bodyPr wrap="square">
            <a:spAutoFit/>
          </a:bodyPr>
          <a:lstStyle/>
          <a:p>
            <a:pPr algn="just">
              <a:buNone/>
            </a:pPr>
            <a:r>
              <a:rPr lang="en-US" sz="3200" b="0" i="0" dirty="0">
                <a:solidFill>
                  <a:srgbClr val="212529"/>
                </a:solidFill>
                <a:effectLst/>
              </a:rPr>
              <a:t>GANs are a class of AI models consisting of two competing neural networks:</a:t>
            </a:r>
          </a:p>
          <a:p>
            <a:pPr marL="457200" indent="-457200" algn="just">
              <a:buFont typeface="Arial" panose="020B0604020202020204" pitchFamily="34" charset="0"/>
              <a:buChar char="•"/>
            </a:pPr>
            <a:r>
              <a:rPr lang="en-US" sz="3200" b="1" i="0" dirty="0">
                <a:solidFill>
                  <a:srgbClr val="212529"/>
                </a:solidFill>
                <a:effectLst/>
              </a:rPr>
              <a:t>Generator:</a:t>
            </a:r>
            <a:r>
              <a:rPr lang="en-US" sz="3200" b="0" i="0" dirty="0">
                <a:solidFill>
                  <a:srgbClr val="212529"/>
                </a:solidFill>
                <a:effectLst/>
              </a:rPr>
              <a:t> Creates synthetic data (e.g., images, text) from random noise.</a:t>
            </a:r>
          </a:p>
          <a:p>
            <a:pPr marL="457200" indent="-457200" algn="just">
              <a:buFont typeface="Arial" panose="020B0604020202020204" pitchFamily="34" charset="0"/>
              <a:buChar char="•"/>
            </a:pPr>
            <a:r>
              <a:rPr lang="en-US" sz="3200" b="1" i="0" dirty="0">
                <a:solidFill>
                  <a:srgbClr val="212529"/>
                </a:solidFill>
                <a:effectLst/>
              </a:rPr>
              <a:t>Discriminator:</a:t>
            </a:r>
            <a:r>
              <a:rPr lang="en-US" sz="3200" b="0" i="0" dirty="0">
                <a:solidFill>
                  <a:srgbClr val="212529"/>
                </a:solidFill>
                <a:effectLst/>
              </a:rPr>
              <a:t> Evaluates whether data is real or generated.</a:t>
            </a:r>
          </a:p>
          <a:p>
            <a:pPr algn="just">
              <a:buNone/>
            </a:pPr>
            <a:r>
              <a:rPr lang="en-US" sz="3200" b="0" i="0" dirty="0">
                <a:solidFill>
                  <a:srgbClr val="212529"/>
                </a:solidFill>
                <a:effectLst/>
              </a:rPr>
              <a:t>The two networks engage in a </a:t>
            </a:r>
            <a:r>
              <a:rPr lang="en-US" sz="3200" b="1" i="0" dirty="0">
                <a:solidFill>
                  <a:srgbClr val="212529"/>
                </a:solidFill>
                <a:effectLst/>
              </a:rPr>
              <a:t>zero-sum game</a:t>
            </a:r>
            <a:r>
              <a:rPr lang="en-US" sz="3200" b="0" i="0" dirty="0">
                <a:solidFill>
                  <a:srgbClr val="212529"/>
                </a:solidFill>
                <a:effectLst/>
              </a:rPr>
              <a:t>, where the generator improves its outputs to fool the discriminator, while the discriminator becomes better at detecting fakes. </a:t>
            </a:r>
          </a:p>
          <a:p>
            <a:pPr algn="just">
              <a:buNone/>
            </a:pPr>
            <a:r>
              <a:rPr lang="en-US" sz="3200" b="0" i="0" dirty="0">
                <a:solidFill>
                  <a:srgbClr val="212529"/>
                </a:solidFill>
                <a:effectLst/>
              </a:rPr>
              <a:t>Over time, this competition produces highly realistic synthetic data. As Ian Goodfellow described it: </a:t>
            </a:r>
            <a:r>
              <a:rPr lang="en-US" sz="3200" b="0" i="1" dirty="0">
                <a:solidFill>
                  <a:srgbClr val="212529"/>
                </a:solidFill>
                <a:effectLst/>
              </a:rPr>
              <a:t>“The generator is like a counterfeiter, and the discriminator is like the police.”</a:t>
            </a:r>
            <a:endParaRPr lang="en-US" sz="3200" b="0" i="0" dirty="0">
              <a:solidFill>
                <a:srgbClr val="212529"/>
              </a:solidFill>
              <a:effectLst/>
            </a:endParaRPr>
          </a:p>
        </p:txBody>
      </p:sp>
    </p:spTree>
    <p:extLst>
      <p:ext uri="{BB962C8B-B14F-4D97-AF65-F5344CB8AC3E}">
        <p14:creationId xmlns:p14="http://schemas.microsoft.com/office/powerpoint/2010/main" val="1672467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F752F09-A447-8135-6C1D-8F25C28008CD}"/>
              </a:ext>
            </a:extLst>
          </p:cNvPr>
          <p:cNvSpPr txBox="1"/>
          <p:nvPr/>
        </p:nvSpPr>
        <p:spPr>
          <a:xfrm>
            <a:off x="301925" y="-9687"/>
            <a:ext cx="11723298" cy="5262979"/>
          </a:xfrm>
          <a:prstGeom prst="rect">
            <a:avLst/>
          </a:prstGeom>
          <a:noFill/>
        </p:spPr>
        <p:txBody>
          <a:bodyPr wrap="square">
            <a:spAutoFit/>
          </a:bodyPr>
          <a:lstStyle/>
          <a:p>
            <a:pPr algn="just">
              <a:buNone/>
            </a:pPr>
            <a:r>
              <a:rPr lang="en-US" sz="2800" b="1" dirty="0"/>
              <a:t>The Generator Model</a:t>
            </a:r>
          </a:p>
          <a:p>
            <a:pPr algn="just">
              <a:buFont typeface="Arial" panose="020B0604020202020204" pitchFamily="34" charset="0"/>
              <a:buChar char="•"/>
            </a:pPr>
            <a:r>
              <a:rPr lang="en-US" sz="2800" dirty="0"/>
              <a:t>The generator model takes a fixed-length random vector as input and generates a sample in the domain.</a:t>
            </a:r>
          </a:p>
          <a:p>
            <a:pPr algn="just">
              <a:buFont typeface="Arial" panose="020B0604020202020204" pitchFamily="34" charset="0"/>
              <a:buChar char="•"/>
            </a:pPr>
            <a:r>
              <a:rPr lang="en-US" sz="2800" dirty="0"/>
              <a:t>The vector is drawn randomly from a Gaussian distribution, and the vector is used to seed the generative process. </a:t>
            </a:r>
          </a:p>
          <a:p>
            <a:pPr algn="just">
              <a:buFont typeface="Arial" panose="020B0604020202020204" pitchFamily="34" charset="0"/>
              <a:buChar char="•"/>
            </a:pPr>
            <a:r>
              <a:rPr lang="en-US" sz="2800" dirty="0"/>
              <a:t>After training, points in this multidimensional vector space will correspond to points in the problem domain, forming a compressed representation of the data distribution.</a:t>
            </a:r>
          </a:p>
          <a:p>
            <a:pPr algn="just">
              <a:buFont typeface="Arial" panose="020B0604020202020204" pitchFamily="34" charset="0"/>
              <a:buChar char="•"/>
            </a:pPr>
            <a:r>
              <a:rPr lang="en-US" sz="2800" dirty="0"/>
              <a:t>This vector space is referred to as a </a:t>
            </a:r>
            <a:r>
              <a:rPr lang="en-US" sz="2800" b="1" dirty="0"/>
              <a:t>latent space</a:t>
            </a:r>
            <a:r>
              <a:rPr lang="en-US" sz="2800" dirty="0"/>
              <a:t>, or a vector space comprised of latent variables.</a:t>
            </a:r>
          </a:p>
          <a:p>
            <a:pPr algn="just">
              <a:buFont typeface="Arial" panose="020B0604020202020204" pitchFamily="34" charset="0"/>
              <a:buChar char="•"/>
            </a:pPr>
            <a:r>
              <a:rPr lang="en-US" sz="2800" dirty="0"/>
              <a:t> Latent variables, or hidden variables, are those variables that are important for a domain but are not directly observable.</a:t>
            </a:r>
          </a:p>
        </p:txBody>
      </p:sp>
    </p:spTree>
    <p:extLst>
      <p:ext uri="{BB962C8B-B14F-4D97-AF65-F5344CB8AC3E}">
        <p14:creationId xmlns:p14="http://schemas.microsoft.com/office/powerpoint/2010/main" val="1246241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BD8B9CE6-170B-0705-2EC9-56E043768B13}"/>
              </a:ext>
            </a:extLst>
          </p:cNvPr>
          <p:cNvSpPr txBox="1"/>
          <p:nvPr/>
        </p:nvSpPr>
        <p:spPr>
          <a:xfrm>
            <a:off x="552090" y="534838"/>
            <a:ext cx="11291977" cy="4401205"/>
          </a:xfrm>
          <a:prstGeom prst="rect">
            <a:avLst/>
          </a:prstGeom>
          <a:noFill/>
        </p:spPr>
        <p:txBody>
          <a:bodyPr wrap="square">
            <a:spAutoFit/>
          </a:bodyPr>
          <a:lstStyle/>
          <a:p>
            <a:pPr algn="just">
              <a:buFont typeface="Arial" panose="020B0604020202020204" pitchFamily="34" charset="0"/>
              <a:buChar char="•"/>
            </a:pPr>
            <a:r>
              <a:rPr lang="en-US" sz="2800" dirty="0"/>
              <a:t>We often refer to latent variables, or a latent space, as a projection or compression of a data distribution. That is, a latent space provides a compression or high-level concepts of the observed raw data such as the input data distribution. </a:t>
            </a:r>
          </a:p>
          <a:p>
            <a:pPr algn="just">
              <a:buFont typeface="Arial" panose="020B0604020202020204" pitchFamily="34" charset="0"/>
              <a:buChar char="•"/>
            </a:pPr>
            <a:r>
              <a:rPr lang="en-US" sz="2800" dirty="0"/>
              <a:t>In the case of GANs, the generator model applies meaning to points in a chosen latent space, such that new points drawn from the latent space can be provided to the generator model as input and used to generate new and different output examples.</a:t>
            </a:r>
          </a:p>
          <a:p>
            <a:pPr algn="just">
              <a:buFont typeface="Arial" panose="020B0604020202020204" pitchFamily="34" charset="0"/>
              <a:buChar char="•"/>
            </a:pPr>
            <a:r>
              <a:rPr lang="en-US" sz="2800" dirty="0"/>
              <a:t>After training, the generator model is kept and used to generate new samples.</a:t>
            </a:r>
          </a:p>
        </p:txBody>
      </p:sp>
    </p:spTree>
    <p:extLst>
      <p:ext uri="{BB962C8B-B14F-4D97-AF65-F5344CB8AC3E}">
        <p14:creationId xmlns:p14="http://schemas.microsoft.com/office/powerpoint/2010/main" val="1276305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EACD430D-1391-97C5-1CBF-7DC990A9CC6A}"/>
              </a:ext>
            </a:extLst>
          </p:cNvPr>
          <p:cNvPicPr>
            <a:picLocks noChangeAspect="1"/>
          </p:cNvPicPr>
          <p:nvPr/>
        </p:nvPicPr>
        <p:blipFill>
          <a:blip r:embed="rId2"/>
          <a:stretch>
            <a:fillRect/>
          </a:stretch>
        </p:blipFill>
        <p:spPr>
          <a:xfrm>
            <a:off x="3009469" y="814022"/>
            <a:ext cx="6173061" cy="5229955"/>
          </a:xfrm>
          <a:prstGeom prst="rect">
            <a:avLst/>
          </a:prstGeom>
        </p:spPr>
      </p:pic>
    </p:spTree>
    <p:extLst>
      <p:ext uri="{BB962C8B-B14F-4D97-AF65-F5344CB8AC3E}">
        <p14:creationId xmlns:p14="http://schemas.microsoft.com/office/powerpoint/2010/main" val="3314276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115420E-CB70-26D1-0C05-3B2F9BAAA7F5}"/>
              </a:ext>
            </a:extLst>
          </p:cNvPr>
          <p:cNvSpPr txBox="1"/>
          <p:nvPr/>
        </p:nvSpPr>
        <p:spPr>
          <a:xfrm>
            <a:off x="310551" y="750498"/>
            <a:ext cx="11421374" cy="5262979"/>
          </a:xfrm>
          <a:prstGeom prst="rect">
            <a:avLst/>
          </a:prstGeom>
          <a:noFill/>
        </p:spPr>
        <p:txBody>
          <a:bodyPr wrap="square">
            <a:spAutoFit/>
          </a:bodyPr>
          <a:lstStyle/>
          <a:p>
            <a:pPr>
              <a:buNone/>
            </a:pPr>
            <a:r>
              <a:rPr lang="en-US" sz="2800" b="1" dirty="0"/>
              <a:t>The Discriminator Model</a:t>
            </a:r>
          </a:p>
          <a:p>
            <a:pPr marL="457200" indent="-457200" algn="just">
              <a:buFont typeface="Arial" panose="020B0604020202020204" pitchFamily="34" charset="0"/>
              <a:buChar char="•"/>
            </a:pPr>
            <a:r>
              <a:rPr lang="en-US" sz="2800" dirty="0"/>
              <a:t>The discriminator model takes an example from the domain as input (real or generated) and predicts a binary class label of </a:t>
            </a:r>
            <a:r>
              <a:rPr lang="en-US" sz="2800" b="1" dirty="0"/>
              <a:t>real or fake (generated)</a:t>
            </a:r>
            <a:r>
              <a:rPr lang="en-US" sz="2800" dirty="0"/>
              <a:t>.</a:t>
            </a:r>
          </a:p>
          <a:p>
            <a:pPr marL="457200" indent="-457200" algn="just">
              <a:buFont typeface="Arial" panose="020B0604020202020204" pitchFamily="34" charset="0"/>
              <a:buChar char="•"/>
            </a:pPr>
            <a:r>
              <a:rPr lang="en-US" sz="2800" dirty="0"/>
              <a:t>The real example comes from the </a:t>
            </a:r>
            <a:r>
              <a:rPr lang="en-US" sz="2800" b="1" dirty="0"/>
              <a:t>training dataset</a:t>
            </a:r>
            <a:r>
              <a:rPr lang="en-US" sz="2800" dirty="0"/>
              <a:t>.</a:t>
            </a:r>
          </a:p>
          <a:p>
            <a:pPr marL="457200" indent="-457200" algn="just">
              <a:buFont typeface="Arial" panose="020B0604020202020204" pitchFamily="34" charset="0"/>
              <a:buChar char="•"/>
            </a:pPr>
            <a:r>
              <a:rPr lang="en-US" sz="2800" dirty="0"/>
              <a:t>The generated examples are output by the </a:t>
            </a:r>
            <a:r>
              <a:rPr lang="en-US" sz="2800" b="1" dirty="0"/>
              <a:t>generator model</a:t>
            </a:r>
            <a:r>
              <a:rPr lang="en-US" sz="2800" dirty="0"/>
              <a:t>.</a:t>
            </a:r>
          </a:p>
          <a:p>
            <a:pPr marL="457200" indent="-457200" algn="just">
              <a:buFont typeface="Arial" panose="020B0604020202020204" pitchFamily="34" charset="0"/>
              <a:buChar char="•"/>
            </a:pPr>
            <a:r>
              <a:rPr lang="en-US" sz="2800" dirty="0"/>
              <a:t>The discriminator is a </a:t>
            </a:r>
            <a:r>
              <a:rPr lang="en-US" sz="2800" b="1" dirty="0"/>
              <a:t>normal (and well understood) classification model</a:t>
            </a:r>
            <a:r>
              <a:rPr lang="en-US" sz="2800" dirty="0"/>
              <a:t>.</a:t>
            </a:r>
          </a:p>
          <a:p>
            <a:pPr marL="457200" indent="-457200" algn="just">
              <a:buFont typeface="Arial" panose="020B0604020202020204" pitchFamily="34" charset="0"/>
              <a:buChar char="•"/>
            </a:pPr>
            <a:r>
              <a:rPr lang="en-US" sz="2800" dirty="0"/>
              <a:t>After the training process, the </a:t>
            </a:r>
            <a:r>
              <a:rPr lang="en-US" sz="2800" b="1" dirty="0"/>
              <a:t>discriminator model is discarded</a:t>
            </a:r>
            <a:r>
              <a:rPr lang="en-US" sz="2800" dirty="0"/>
              <a:t>, as we are interested in the generator.</a:t>
            </a:r>
          </a:p>
          <a:p>
            <a:pPr marL="457200" indent="-457200" algn="just">
              <a:buFont typeface="Arial" panose="020B0604020202020204" pitchFamily="34" charset="0"/>
              <a:buChar char="•"/>
            </a:pPr>
            <a:r>
              <a:rPr lang="en-US" sz="2800" dirty="0"/>
              <a:t>Sometimes, the generator can be </a:t>
            </a:r>
            <a:r>
              <a:rPr lang="en-US" sz="2800" b="1" dirty="0"/>
              <a:t>repurposed</a:t>
            </a:r>
            <a:r>
              <a:rPr lang="en-US" sz="2800" dirty="0"/>
              <a:t> as it has learned to effectively extract features from examples in the problem domain.</a:t>
            </a:r>
          </a:p>
          <a:p>
            <a:pPr marL="457200" indent="-457200" algn="just">
              <a:buFont typeface="Arial" panose="020B0604020202020204" pitchFamily="34" charset="0"/>
              <a:buChar char="•"/>
            </a:pPr>
            <a:r>
              <a:rPr lang="en-US" sz="2800" dirty="0"/>
              <a:t>Some or all of the </a:t>
            </a:r>
            <a:r>
              <a:rPr lang="en-US" sz="2800" b="1" dirty="0"/>
              <a:t>feature extraction layers</a:t>
            </a:r>
            <a:r>
              <a:rPr lang="en-US" sz="2800" dirty="0"/>
              <a:t> can be used in </a:t>
            </a:r>
            <a:r>
              <a:rPr lang="en-US" sz="2800" b="1" dirty="0"/>
              <a:t>transfer learning applications</a:t>
            </a:r>
            <a:r>
              <a:rPr lang="en-US" sz="2800" dirty="0"/>
              <a:t> using the same or similar input data.</a:t>
            </a:r>
          </a:p>
        </p:txBody>
      </p:sp>
    </p:spTree>
    <p:extLst>
      <p:ext uri="{BB962C8B-B14F-4D97-AF65-F5344CB8AC3E}">
        <p14:creationId xmlns:p14="http://schemas.microsoft.com/office/powerpoint/2010/main" val="3740872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DEC8ACC-1E41-8E68-D343-C1D6F8A605BC}"/>
              </a:ext>
            </a:extLst>
          </p:cNvPr>
          <p:cNvPicPr>
            <a:picLocks noChangeAspect="1"/>
          </p:cNvPicPr>
          <p:nvPr/>
        </p:nvPicPr>
        <p:blipFill>
          <a:blip r:embed="rId2"/>
          <a:stretch>
            <a:fillRect/>
          </a:stretch>
        </p:blipFill>
        <p:spPr>
          <a:xfrm>
            <a:off x="3278038" y="659658"/>
            <a:ext cx="5805577" cy="5381426"/>
          </a:xfrm>
          <a:prstGeom prst="rect">
            <a:avLst/>
          </a:prstGeom>
        </p:spPr>
      </p:pic>
    </p:spTree>
    <p:extLst>
      <p:ext uri="{BB962C8B-B14F-4D97-AF65-F5344CB8AC3E}">
        <p14:creationId xmlns:p14="http://schemas.microsoft.com/office/powerpoint/2010/main" val="3580808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30E64B9B-0C5D-71FE-00D1-6B0AC3C176CC}"/>
              </a:ext>
            </a:extLst>
          </p:cNvPr>
          <p:cNvSpPr txBox="1"/>
          <p:nvPr/>
        </p:nvSpPr>
        <p:spPr>
          <a:xfrm>
            <a:off x="577970" y="569343"/>
            <a:ext cx="11222966" cy="5509200"/>
          </a:xfrm>
          <a:prstGeom prst="rect">
            <a:avLst/>
          </a:prstGeom>
          <a:noFill/>
        </p:spPr>
        <p:txBody>
          <a:bodyPr wrap="square">
            <a:spAutoFit/>
          </a:bodyPr>
          <a:lstStyle/>
          <a:p>
            <a:pPr algn="just">
              <a:buNone/>
            </a:pPr>
            <a:r>
              <a:rPr lang="en-US" sz="3200" b="1" dirty="0"/>
              <a:t>GANs as a Two Player Game</a:t>
            </a:r>
          </a:p>
          <a:p>
            <a:pPr algn="just">
              <a:buFont typeface="Arial" panose="020B0604020202020204" pitchFamily="34" charset="0"/>
              <a:buChar char="•"/>
            </a:pPr>
            <a:r>
              <a:rPr lang="en-US" sz="3200" b="1" dirty="0"/>
              <a:t>Generative modelling</a:t>
            </a:r>
            <a:r>
              <a:rPr lang="en-US" sz="3200" dirty="0"/>
              <a:t> is an </a:t>
            </a:r>
            <a:r>
              <a:rPr lang="en-US" sz="3200" b="1" dirty="0"/>
              <a:t>unsupervised learning problem</a:t>
            </a:r>
            <a:r>
              <a:rPr lang="en-US" sz="3200" dirty="0"/>
              <a:t>, </a:t>
            </a:r>
          </a:p>
          <a:p>
            <a:pPr algn="just">
              <a:buFont typeface="Arial" panose="020B0604020202020204" pitchFamily="34" charset="0"/>
              <a:buChar char="•"/>
            </a:pPr>
            <a:r>
              <a:rPr lang="en-US" sz="3200" dirty="0"/>
              <a:t>The two models, the </a:t>
            </a:r>
            <a:r>
              <a:rPr lang="en-US" sz="3200" b="1" dirty="0"/>
              <a:t>generator</a:t>
            </a:r>
            <a:r>
              <a:rPr lang="en-US" sz="3200" dirty="0"/>
              <a:t> and </a:t>
            </a:r>
            <a:r>
              <a:rPr lang="en-US" sz="3200" b="1" dirty="0"/>
              <a:t>discriminator</a:t>
            </a:r>
            <a:r>
              <a:rPr lang="en-US" sz="3200" dirty="0"/>
              <a:t>, are trained together.</a:t>
            </a:r>
          </a:p>
          <a:p>
            <a:pPr algn="just">
              <a:buFont typeface="Arial" panose="020B0604020202020204" pitchFamily="34" charset="0"/>
              <a:buChar char="•"/>
            </a:pPr>
            <a:r>
              <a:rPr lang="en-US" sz="3200" dirty="0"/>
              <a:t>The </a:t>
            </a:r>
            <a:r>
              <a:rPr lang="en-US" sz="3200" b="1" dirty="0"/>
              <a:t>generator</a:t>
            </a:r>
            <a:r>
              <a:rPr lang="en-US" sz="3200" dirty="0"/>
              <a:t> generates a batch of samples and these, along with </a:t>
            </a:r>
            <a:r>
              <a:rPr lang="en-US" sz="3200" b="1" dirty="0"/>
              <a:t>real examples from the domain</a:t>
            </a:r>
            <a:r>
              <a:rPr lang="en-US" sz="3200" dirty="0"/>
              <a:t>, are provided to the </a:t>
            </a:r>
            <a:r>
              <a:rPr lang="en-US" sz="3200" b="1" dirty="0"/>
              <a:t>discriminator</a:t>
            </a:r>
            <a:r>
              <a:rPr lang="en-US" sz="3200" dirty="0"/>
              <a:t> and classified as </a:t>
            </a:r>
            <a:r>
              <a:rPr lang="en-US" sz="3200" b="1" dirty="0"/>
              <a:t>real or fake</a:t>
            </a:r>
            <a:r>
              <a:rPr lang="en-US" sz="3200" dirty="0"/>
              <a:t>.</a:t>
            </a:r>
          </a:p>
          <a:p>
            <a:pPr algn="just">
              <a:buFont typeface="Arial" panose="020B0604020202020204" pitchFamily="34" charset="0"/>
              <a:buChar char="•"/>
            </a:pPr>
            <a:r>
              <a:rPr lang="en-US" sz="3200" dirty="0"/>
              <a:t>The </a:t>
            </a:r>
            <a:r>
              <a:rPr lang="en-US" sz="3200" b="1" dirty="0"/>
              <a:t>discriminator</a:t>
            </a:r>
            <a:r>
              <a:rPr lang="en-US" sz="3200" dirty="0"/>
              <a:t> is then updated to get better at discriminating real and fake samples in the next round, and importantly, the </a:t>
            </a:r>
            <a:r>
              <a:rPr lang="en-US" sz="3200" b="1" dirty="0"/>
              <a:t>generator is updated based on how well (or not) the generated samples fooled the discriminator</a:t>
            </a:r>
            <a:r>
              <a:rPr lang="en-US" sz="3200" dirty="0"/>
              <a:t>.</a:t>
            </a:r>
          </a:p>
        </p:txBody>
      </p:sp>
    </p:spTree>
    <p:extLst>
      <p:ext uri="{BB962C8B-B14F-4D97-AF65-F5344CB8AC3E}">
        <p14:creationId xmlns:p14="http://schemas.microsoft.com/office/powerpoint/2010/main" val="2773862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 xmlns:a16="http://schemas.microsoft.com/office/drawing/2014/main" id="{B6C0D737-CA96-3A4E-E44A-70CA112EA823}"/>
              </a:ext>
            </a:extLst>
          </p:cNvPr>
          <p:cNvSpPr>
            <a:spLocks noChangeArrowheads="1"/>
          </p:cNvSpPr>
          <p:nvPr/>
        </p:nvSpPr>
        <p:spPr bwMode="auto">
          <a:xfrm>
            <a:off x="319591" y="639030"/>
            <a:ext cx="11434444"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rPr>
              <a:t>When the </a:t>
            </a:r>
            <a:r>
              <a:rPr kumimoji="0" lang="en-US" altLang="en-US" sz="3200" b="1" i="0" u="none" strike="noStrike" cap="none" normalizeH="0" baseline="0" dirty="0">
                <a:ln>
                  <a:noFill/>
                </a:ln>
                <a:solidFill>
                  <a:schemeClr val="tx1"/>
                </a:solidFill>
                <a:effectLst/>
              </a:rPr>
              <a:t>discriminator successfully identifies real and fake samples</a:t>
            </a:r>
            <a:r>
              <a:rPr kumimoji="0" lang="en-US" altLang="en-US" sz="3200" b="0" i="0" u="none" strike="noStrike" cap="none" normalizeH="0" baseline="0" dirty="0">
                <a:ln>
                  <a:noFill/>
                </a:ln>
                <a:solidFill>
                  <a:schemeClr val="tx1"/>
                </a:solidFill>
                <a:effectLst/>
              </a:rPr>
              <a:t>, it is </a:t>
            </a:r>
            <a:r>
              <a:rPr kumimoji="0" lang="en-US" altLang="en-US" sz="3200" b="1" i="0" u="none" strike="noStrike" cap="none" normalizeH="0" baseline="0" dirty="0">
                <a:ln>
                  <a:noFill/>
                </a:ln>
                <a:solidFill>
                  <a:schemeClr val="tx1"/>
                </a:solidFill>
                <a:effectLst/>
              </a:rPr>
              <a:t>rewarded</a:t>
            </a:r>
            <a:r>
              <a:rPr kumimoji="0" lang="en-US" altLang="en-US" sz="3200" b="0" i="0" u="none" strike="noStrike" cap="none" normalizeH="0" baseline="0" dirty="0">
                <a:ln>
                  <a:noFill/>
                </a:ln>
                <a:solidFill>
                  <a:schemeClr val="tx1"/>
                </a:solidFill>
                <a:effectLst/>
              </a:rPr>
              <a:t> (or no change is needed to the model parameters), whereas the </a:t>
            </a:r>
            <a:r>
              <a:rPr kumimoji="0" lang="en-US" altLang="en-US" sz="3200" b="1" i="0" u="none" strike="noStrike" cap="none" normalizeH="0" baseline="0" dirty="0">
                <a:ln>
                  <a:noFill/>
                </a:ln>
                <a:solidFill>
                  <a:schemeClr val="tx1"/>
                </a:solidFill>
                <a:effectLst/>
              </a:rPr>
              <a:t>generator is penalized</a:t>
            </a:r>
            <a:r>
              <a:rPr kumimoji="0" lang="en-US" altLang="en-US" sz="3200" b="0" i="0" u="none" strike="noStrike" cap="none" normalizeH="0" baseline="0" dirty="0">
                <a:ln>
                  <a:noFill/>
                </a:ln>
                <a:solidFill>
                  <a:schemeClr val="tx1"/>
                </a:solidFill>
                <a:effectLst/>
              </a:rPr>
              <a:t> with large updates to its model parameters.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rPr>
              <a:t>Alternately, when the </a:t>
            </a:r>
            <a:r>
              <a:rPr kumimoji="0" lang="en-US" altLang="en-US" sz="3200" b="1" i="0" u="none" strike="noStrike" cap="none" normalizeH="0" baseline="0" dirty="0">
                <a:ln>
                  <a:noFill/>
                </a:ln>
                <a:solidFill>
                  <a:schemeClr val="tx1"/>
                </a:solidFill>
                <a:effectLst/>
              </a:rPr>
              <a:t>generator fools the discriminator</a:t>
            </a:r>
            <a:r>
              <a:rPr kumimoji="0" lang="en-US" altLang="en-US" sz="3200" b="0" i="0" u="none" strike="noStrike" cap="none" normalizeH="0" baseline="0" dirty="0">
                <a:ln>
                  <a:noFill/>
                </a:ln>
                <a:solidFill>
                  <a:schemeClr val="tx1"/>
                </a:solidFill>
                <a:effectLst/>
              </a:rPr>
              <a:t>, it is </a:t>
            </a:r>
            <a:r>
              <a:rPr kumimoji="0" lang="en-US" altLang="en-US" sz="3200" b="1" i="0" u="none" strike="noStrike" cap="none" normalizeH="0" baseline="0" dirty="0">
                <a:ln>
                  <a:noFill/>
                </a:ln>
                <a:solidFill>
                  <a:schemeClr val="tx1"/>
                </a:solidFill>
                <a:effectLst/>
              </a:rPr>
              <a:t>rewarded</a:t>
            </a:r>
            <a:r>
              <a:rPr kumimoji="0" lang="en-US" altLang="en-US" sz="3200" b="0" i="0" u="none" strike="noStrike" cap="none" normalizeH="0" baseline="0" dirty="0">
                <a:ln>
                  <a:noFill/>
                </a:ln>
                <a:solidFill>
                  <a:schemeClr val="tx1"/>
                </a:solidFill>
                <a:effectLst/>
              </a:rPr>
              <a:t> (or no change is needed to the model parameters), but the </a:t>
            </a:r>
            <a:r>
              <a:rPr kumimoji="0" lang="en-US" altLang="en-US" sz="3200" b="1" i="0" u="none" strike="noStrike" cap="none" normalizeH="0" baseline="0" dirty="0">
                <a:ln>
                  <a:noFill/>
                </a:ln>
                <a:solidFill>
                  <a:schemeClr val="tx1"/>
                </a:solidFill>
                <a:effectLst/>
              </a:rPr>
              <a:t>discriminator is penalized</a:t>
            </a:r>
            <a:r>
              <a:rPr kumimoji="0" lang="en-US" altLang="en-US" sz="3200" b="0" i="0" u="none" strike="noStrike" cap="none" normalizeH="0" baseline="0" dirty="0">
                <a:ln>
                  <a:noFill/>
                </a:ln>
                <a:solidFill>
                  <a:schemeClr val="tx1"/>
                </a:solidFill>
                <a:effectLst/>
              </a:rPr>
              <a:t> and its model parameters are updated.</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dirty="0">
                <a:ln>
                  <a:noFill/>
                </a:ln>
                <a:solidFill>
                  <a:schemeClr val="tx1"/>
                </a:solidFill>
                <a:effectLst/>
              </a:rPr>
              <a:t>At the limit</a:t>
            </a:r>
            <a:r>
              <a:rPr kumimoji="0" lang="en-US" altLang="en-US" sz="3200" b="0" i="0" u="none" strike="noStrike" cap="none" normalizeH="0" baseline="0" dirty="0">
                <a:ln>
                  <a:noFill/>
                </a:ln>
                <a:solidFill>
                  <a:schemeClr val="tx1"/>
                </a:solidFill>
                <a:effectLst/>
              </a:rPr>
              <a:t>, the generator generates </a:t>
            </a:r>
            <a:r>
              <a:rPr kumimoji="0" lang="en-US" altLang="en-US" sz="3200" b="1" i="0" u="none" strike="noStrike" cap="none" normalizeH="0" baseline="0" dirty="0">
                <a:ln>
                  <a:noFill/>
                </a:ln>
                <a:solidFill>
                  <a:schemeClr val="tx1"/>
                </a:solidFill>
                <a:effectLst/>
              </a:rPr>
              <a:t>perfect replicas</a:t>
            </a:r>
            <a:r>
              <a:rPr kumimoji="0" lang="en-US" altLang="en-US" sz="3200" b="0" i="0" u="none" strike="noStrike" cap="none" normalizeH="0" baseline="0" dirty="0">
                <a:ln>
                  <a:noFill/>
                </a:ln>
                <a:solidFill>
                  <a:schemeClr val="tx1"/>
                </a:solidFill>
                <a:effectLst/>
              </a:rPr>
              <a:t> from the input domain every time, and the discriminator </a:t>
            </a:r>
            <a:r>
              <a:rPr kumimoji="0" lang="en-US" altLang="en-US" sz="3200" b="1" i="0" u="none" strike="noStrike" cap="none" normalizeH="0" baseline="0" dirty="0">
                <a:ln>
                  <a:noFill/>
                </a:ln>
                <a:solidFill>
                  <a:schemeClr val="tx1"/>
                </a:solidFill>
                <a:effectLst/>
              </a:rPr>
              <a:t>cannot tell the difference</a:t>
            </a:r>
            <a:r>
              <a:rPr kumimoji="0" lang="en-US" altLang="en-US" sz="3200" b="0" i="0" u="none" strike="noStrike" cap="none" normalizeH="0" baseline="0" dirty="0">
                <a:ln>
                  <a:noFill/>
                </a:ln>
                <a:solidFill>
                  <a:schemeClr val="tx1"/>
                </a:solidFill>
                <a:effectLst/>
              </a:rPr>
              <a:t> and predicts </a:t>
            </a:r>
            <a:r>
              <a:rPr kumimoji="0" lang="en-US" altLang="en-US" sz="3200" b="1" i="0" u="none" strike="noStrike" cap="none" normalizeH="0" baseline="0" dirty="0">
                <a:ln>
                  <a:noFill/>
                </a:ln>
                <a:solidFill>
                  <a:schemeClr val="tx1"/>
                </a:solidFill>
                <a:effectLst/>
              </a:rPr>
              <a:t>“unsure”</a:t>
            </a:r>
            <a:r>
              <a:rPr kumimoji="0" lang="en-US" altLang="en-US" sz="3200" b="0" i="0" u="none" strike="noStrike" cap="none" normalizeH="0" baseline="0" dirty="0">
                <a:ln>
                  <a:noFill/>
                </a:ln>
                <a:solidFill>
                  <a:schemeClr val="tx1"/>
                </a:solidFill>
                <a:effectLst/>
              </a:rPr>
              <a:t> (e.g., </a:t>
            </a:r>
            <a:r>
              <a:rPr kumimoji="0" lang="en-US" altLang="en-US" sz="3200" b="1" i="0" u="none" strike="noStrike" cap="none" normalizeH="0" baseline="0" dirty="0">
                <a:ln>
                  <a:noFill/>
                </a:ln>
                <a:solidFill>
                  <a:schemeClr val="tx1"/>
                </a:solidFill>
                <a:effectLst/>
              </a:rPr>
              <a:t>50% real and 50% fake</a:t>
            </a:r>
            <a:r>
              <a:rPr kumimoji="0" lang="en-US" altLang="en-US" sz="3200" b="0" i="0" u="none" strike="noStrike" cap="none" normalizeH="0" baseline="0" dirty="0">
                <a:ln>
                  <a:noFill/>
                </a:ln>
                <a:solidFill>
                  <a:schemeClr val="tx1"/>
                </a:solidFill>
                <a:effectLst/>
              </a:rPr>
              <a:t>) in every case.</a:t>
            </a:r>
          </a:p>
        </p:txBody>
      </p:sp>
    </p:spTree>
    <p:extLst>
      <p:ext uri="{BB962C8B-B14F-4D97-AF65-F5344CB8AC3E}">
        <p14:creationId xmlns:p14="http://schemas.microsoft.com/office/powerpoint/2010/main" val="4167715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A856100E-3A17-BF31-8263-51D46F5581C9}"/>
              </a:ext>
            </a:extLst>
          </p:cNvPr>
          <p:cNvPicPr>
            <a:picLocks noChangeAspect="1"/>
          </p:cNvPicPr>
          <p:nvPr/>
        </p:nvPicPr>
        <p:blipFill>
          <a:blip r:embed="rId2"/>
          <a:stretch>
            <a:fillRect/>
          </a:stretch>
        </p:blipFill>
        <p:spPr>
          <a:xfrm>
            <a:off x="1856783" y="244395"/>
            <a:ext cx="8478433" cy="6697010"/>
          </a:xfrm>
          <a:prstGeom prst="rect">
            <a:avLst/>
          </a:prstGeom>
        </p:spPr>
      </p:pic>
    </p:spTree>
    <p:extLst>
      <p:ext uri="{BB962C8B-B14F-4D97-AF65-F5344CB8AC3E}">
        <p14:creationId xmlns:p14="http://schemas.microsoft.com/office/powerpoint/2010/main" val="2107284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01EB57A3-0D99-E653-EB92-202CA23332E1}"/>
              </a:ext>
            </a:extLst>
          </p:cNvPr>
          <p:cNvPicPr>
            <a:picLocks noChangeAspect="1"/>
          </p:cNvPicPr>
          <p:nvPr/>
        </p:nvPicPr>
        <p:blipFill>
          <a:blip r:embed="rId2"/>
          <a:stretch>
            <a:fillRect/>
          </a:stretch>
        </p:blipFill>
        <p:spPr>
          <a:xfrm>
            <a:off x="0" y="564614"/>
            <a:ext cx="12192000" cy="5728771"/>
          </a:xfrm>
          <a:prstGeom prst="rect">
            <a:avLst/>
          </a:prstGeom>
        </p:spPr>
      </p:pic>
    </p:spTree>
    <p:extLst>
      <p:ext uri="{BB962C8B-B14F-4D97-AF65-F5344CB8AC3E}">
        <p14:creationId xmlns:p14="http://schemas.microsoft.com/office/powerpoint/2010/main" val="9002327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D8E3B126-AF57-BBC1-9F34-0E1B7E8781EA}"/>
              </a:ext>
            </a:extLst>
          </p:cNvPr>
          <p:cNvPicPr>
            <a:picLocks noChangeAspect="1"/>
          </p:cNvPicPr>
          <p:nvPr/>
        </p:nvPicPr>
        <p:blipFill>
          <a:blip r:embed="rId2"/>
          <a:stretch>
            <a:fillRect/>
          </a:stretch>
        </p:blipFill>
        <p:spPr>
          <a:xfrm>
            <a:off x="609737" y="1095554"/>
            <a:ext cx="11401107" cy="2901332"/>
          </a:xfrm>
          <a:prstGeom prst="rect">
            <a:avLst/>
          </a:prstGeom>
        </p:spPr>
      </p:pic>
    </p:spTree>
    <p:extLst>
      <p:ext uri="{BB962C8B-B14F-4D97-AF65-F5344CB8AC3E}">
        <p14:creationId xmlns:p14="http://schemas.microsoft.com/office/powerpoint/2010/main" val="3259499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F7A3553B-AD11-01F3-56F8-A6F18CA790CB}"/>
                  </a:ext>
                </a:extLst>
              </p:cNvPr>
              <p:cNvSpPr txBox="1"/>
              <p:nvPr/>
            </p:nvSpPr>
            <p:spPr>
              <a:xfrm>
                <a:off x="854015" y="491707"/>
                <a:ext cx="10532853" cy="5460021"/>
              </a:xfrm>
              <a:prstGeom prst="rect">
                <a:avLst/>
              </a:prstGeom>
              <a:noFill/>
            </p:spPr>
            <p:txBody>
              <a:bodyPr wrap="square">
                <a:spAutoFit/>
              </a:bodyPr>
              <a:lstStyle/>
              <a:p>
                <a:pPr algn="l" rtl="0" fontAlgn="base">
                  <a:spcAft>
                    <a:spcPts val="750"/>
                  </a:spcAft>
                  <a:buNone/>
                </a:pPr>
                <a:r>
                  <a:rPr lang="en-IN" sz="2800" b="1" i="0" dirty="0">
                    <a:solidFill>
                      <a:srgbClr val="273239"/>
                    </a:solidFill>
                    <a:effectLst/>
                  </a:rPr>
                  <a:t>Generator Loss Function: </a:t>
                </a:r>
                <a:r>
                  <a:rPr lang="en-IN" sz="2800" b="0" i="0" dirty="0">
                    <a:solidFill>
                      <a:srgbClr val="273239"/>
                    </a:solidFill>
                    <a:effectLst/>
                  </a:rPr>
                  <a:t>The generator tries to minimize this loss:</a:t>
                </a:r>
              </a:p>
              <a:p>
                <a:pPr algn="l" rtl="0" fontAlgn="base">
                  <a:spcBef>
                    <a:spcPts val="750"/>
                  </a:spcBef>
                  <a:spcAft>
                    <a:spcPts val="750"/>
                  </a:spcAft>
                  <a:buNone/>
                </a:pPr>
                <a14:m>
                  <m:oMathPara xmlns:m="http://schemas.openxmlformats.org/officeDocument/2006/math">
                    <m:oMathParaPr>
                      <m:jc m:val="centerGroup"/>
                    </m:oMathParaPr>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𝐽</m:t>
                          </m:r>
                        </m:e>
                        <m:sub>
                          <m:r>
                            <a:rPr lang="ar-AE" sz="2800" i="1">
                              <a:latin typeface="Cambria Math" panose="02040503050406030204" pitchFamily="18" charset="0"/>
                            </a:rPr>
                            <m:t>𝐺</m:t>
                          </m:r>
                        </m:sub>
                      </m:sSub>
                      <m:r>
                        <a:rPr lang="ar-AE" sz="2800" i="0">
                          <a:latin typeface="Cambria Math" panose="02040503050406030204" pitchFamily="18" charset="0"/>
                        </a:rPr>
                        <m:t>=−</m:t>
                      </m:r>
                      <m:f>
                        <m:fPr>
                          <m:ctrlPr>
                            <a:rPr lang="ar-AE" sz="2800" i="1">
                              <a:latin typeface="Cambria Math" panose="02040503050406030204" pitchFamily="18" charset="0"/>
                            </a:rPr>
                          </m:ctrlPr>
                        </m:fPr>
                        <m:num>
                          <m:r>
                            <a:rPr lang="ar-AE" sz="2800" i="0">
                              <a:latin typeface="Cambria Math" panose="02040503050406030204" pitchFamily="18" charset="0"/>
                            </a:rPr>
                            <m:t>1</m:t>
                          </m:r>
                        </m:num>
                        <m:den>
                          <m:r>
                            <a:rPr lang="ar-AE" sz="2800" i="1">
                              <a:latin typeface="Cambria Math" panose="02040503050406030204" pitchFamily="18" charset="0"/>
                            </a:rPr>
                            <m:t>𝑚</m:t>
                          </m:r>
                        </m:den>
                      </m:f>
                      <m:sSubSup>
                        <m:sSubSupPr>
                          <m:ctrlPr>
                            <a:rPr lang="ar-AE" sz="2800" i="1">
                              <a:latin typeface="Cambria Math" panose="02040503050406030204" pitchFamily="18" charset="0"/>
                            </a:rPr>
                          </m:ctrlPr>
                        </m:sSubSupPr>
                        <m:e>
                          <m:r>
                            <m:rPr>
                              <m:sty m:val="p"/>
                            </m:rPr>
                            <a:rPr lang="el-GR" sz="2800" i="0">
                              <a:latin typeface="Cambria Math" panose="02040503050406030204" pitchFamily="18" charset="0"/>
                            </a:rPr>
                            <m:t>Σ</m:t>
                          </m:r>
                        </m:e>
                        <m:sub>
                          <m:r>
                            <a:rPr lang="ar-AE" sz="2800" i="1">
                              <a:latin typeface="Cambria Math" panose="02040503050406030204" pitchFamily="18" charset="0"/>
                            </a:rPr>
                            <m:t>𝑖</m:t>
                          </m:r>
                          <m:r>
                            <a:rPr lang="ar-AE" sz="2800" i="0">
                              <a:latin typeface="Cambria Math" panose="02040503050406030204" pitchFamily="18" charset="0"/>
                            </a:rPr>
                            <m:t>=</m:t>
                          </m:r>
                          <m:r>
                            <a:rPr lang="ar-AE" sz="2800" i="0">
                              <a:latin typeface="Cambria Math" panose="02040503050406030204" pitchFamily="18" charset="0"/>
                            </a:rPr>
                            <m:t>1</m:t>
                          </m:r>
                        </m:sub>
                        <m:sup>
                          <m:r>
                            <a:rPr lang="ar-AE" sz="2800" i="1">
                              <a:latin typeface="Cambria Math" panose="02040503050406030204" pitchFamily="18" charset="0"/>
                            </a:rPr>
                            <m:t>𝑚</m:t>
                          </m:r>
                        </m:sup>
                      </m:sSubSup>
                      <m:r>
                        <a:rPr lang="ar-AE" sz="2800" i="1">
                          <a:latin typeface="Cambria Math" panose="02040503050406030204" pitchFamily="18" charset="0"/>
                        </a:rPr>
                        <m:t>𝑙𝑜𝑔𝐷</m:t>
                      </m:r>
                      <m:d>
                        <m:dPr>
                          <m:ctrlPr>
                            <a:rPr lang="ar-AE" sz="2800" i="1">
                              <a:latin typeface="Cambria Math" panose="02040503050406030204" pitchFamily="18" charset="0"/>
                            </a:rPr>
                          </m:ctrlPr>
                        </m:dPr>
                        <m:e>
                          <m:r>
                            <a:rPr lang="ar-AE"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e>
                      </m:d>
                    </m:oMath>
                  </m:oMathPara>
                </a14:m>
                <a:endParaRPr lang="ar-AE" sz="2800" b="0" i="1" dirty="0">
                  <a:solidFill>
                    <a:srgbClr val="273239"/>
                  </a:solidFill>
                  <a:effectLst/>
                </a:endParaRPr>
              </a:p>
              <a:p>
                <a:pPr algn="l" rtl="0" fontAlgn="base">
                  <a:spcAft>
                    <a:spcPts val="750"/>
                  </a:spcAft>
                  <a:buNone/>
                </a:pPr>
                <a:r>
                  <a:rPr lang="en-IN" sz="2800" b="0" i="0" dirty="0">
                    <a:solidFill>
                      <a:srgbClr val="273239"/>
                    </a:solidFill>
                    <a:effectLst/>
                  </a:rPr>
                  <a:t>where</a:t>
                </a:r>
              </a:p>
              <a:p>
                <a:pPr algn="l" fontAlgn="base">
                  <a:spcAft>
                    <a:spcPts val="1800"/>
                  </a:spcAft>
                  <a:buFont typeface="Arial" panose="020B0604020202020204" pitchFamily="34" charset="0"/>
                  <a:buChar char="•"/>
                </a:pP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𝐽</m:t>
                        </m:r>
                      </m:e>
                      <m:sub>
                        <m:r>
                          <a:rPr lang="ar-AE" sz="2800" i="1">
                            <a:latin typeface="Cambria Math" panose="02040503050406030204" pitchFamily="18" charset="0"/>
                          </a:rPr>
                          <m:t>𝐺</m:t>
                        </m:r>
                      </m:sub>
                    </m:sSub>
                  </m:oMath>
                </a14:m>
                <a:r>
                  <a:rPr lang="en-IN" sz="2800" b="0" i="0" dirty="0">
                    <a:solidFill>
                      <a:srgbClr val="273239"/>
                    </a:solidFill>
                    <a:effectLst/>
                  </a:rPr>
                  <a:t>measure how well the generator is fooling the discriminator.</a:t>
                </a:r>
              </a:p>
              <a:p>
                <a:pPr algn="l" fontAlgn="base">
                  <a:spcAft>
                    <a:spcPts val="1800"/>
                  </a:spcAft>
                  <a:buFont typeface="Arial" panose="020B0604020202020204" pitchFamily="34" charset="0"/>
                  <a:buChar char="•"/>
                </a:pPr>
                <a14:m>
                  <m:oMath xmlns:m="http://schemas.openxmlformats.org/officeDocument/2006/math">
                    <m:r>
                      <a:rPr lang="en-IN"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oMath>
                </a14:m>
                <a:r>
                  <a:rPr lang="ar-AE" sz="2800" b="0" i="0" dirty="0">
                    <a:solidFill>
                      <a:srgbClr val="273239"/>
                    </a:solidFill>
                    <a:effectLst/>
                  </a:rPr>
                  <a:t> </a:t>
                </a:r>
                <a:r>
                  <a:rPr lang="en-IN" sz="2800" b="0" i="0" dirty="0">
                    <a:solidFill>
                      <a:srgbClr val="273239"/>
                    </a:solidFill>
                    <a:effectLst/>
                  </a:rPr>
                  <a:t>is the generated sample from random noise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oMath>
                </a14:m>
                <a:endParaRPr lang="ar-AE" sz="2800" b="0" i="0" dirty="0">
                  <a:solidFill>
                    <a:srgbClr val="273239"/>
                  </a:solidFill>
                  <a:effectLst/>
                </a:endParaRPr>
              </a:p>
              <a:p>
                <a:pPr algn="l" fontAlgn="base">
                  <a:spcAft>
                    <a:spcPts val="1800"/>
                  </a:spcAft>
                  <a:buFont typeface="Arial" panose="020B0604020202020204" pitchFamily="34" charset="0"/>
                  <a:buChar char="•"/>
                </a:pPr>
                <a14:m>
                  <m:oMath xmlns:m="http://schemas.openxmlformats.org/officeDocument/2006/math">
                    <m:r>
                      <a:rPr lang="ar-AE"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e>
                    </m:d>
                  </m:oMath>
                </a14:m>
                <a:r>
                  <a:rPr lang="ar-AE" sz="2800" b="0" i="0" dirty="0">
                    <a:solidFill>
                      <a:srgbClr val="273239"/>
                    </a:solidFill>
                    <a:effectLst/>
                  </a:rPr>
                  <a:t> </a:t>
                </a:r>
                <a:r>
                  <a:rPr lang="en-IN" sz="2800" b="0" i="0" dirty="0">
                    <a:solidFill>
                      <a:srgbClr val="273239"/>
                    </a:solidFill>
                    <a:effectLst/>
                  </a:rPr>
                  <a:t>is the discriminator’s estimated probability that the generated sample is real.</a:t>
                </a:r>
              </a:p>
              <a:p>
                <a:pPr algn="l" rtl="0" fontAlgn="base">
                  <a:spcAft>
                    <a:spcPts val="750"/>
                  </a:spcAft>
                  <a:buNone/>
                </a:pPr>
                <a:r>
                  <a:rPr lang="en-IN" sz="2800" b="0" i="0" dirty="0">
                    <a:solidFill>
                      <a:srgbClr val="273239"/>
                    </a:solidFill>
                    <a:effectLst/>
                  </a:rPr>
                  <a:t>The generator aims to maximize </a:t>
                </a:r>
                <a14:m>
                  <m:oMath xmlns:m="http://schemas.openxmlformats.org/officeDocument/2006/math">
                    <m:r>
                      <a:rPr lang="en-IN"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e>
                    </m:d>
                  </m:oMath>
                </a14:m>
                <a:r>
                  <a:rPr lang="ar-AE" sz="2800" b="0" i="0" dirty="0">
                    <a:solidFill>
                      <a:srgbClr val="273239"/>
                    </a:solidFill>
                    <a:effectLst/>
                  </a:rPr>
                  <a:t> </a:t>
                </a:r>
                <a:r>
                  <a:rPr lang="en-IN" sz="2800" b="0" i="0" dirty="0">
                    <a:solidFill>
                      <a:srgbClr val="273239"/>
                    </a:solidFill>
                    <a:effectLst/>
                  </a:rPr>
                  <a:t>meaning it wants the discriminator to classify its fake data as real (probability close to 1).</a:t>
                </a:r>
              </a:p>
            </p:txBody>
          </p:sp>
        </mc:Choice>
        <mc:Fallback xmlns="">
          <p:sp>
            <p:nvSpPr>
              <p:cNvPr id="3" name="TextBox 2">
                <a:extLst>
                  <a:ext uri="{FF2B5EF4-FFF2-40B4-BE49-F238E27FC236}">
                    <a16:creationId xmlns:a16="http://schemas.microsoft.com/office/drawing/2014/main" id="{F7A3553B-AD11-01F3-56F8-A6F18CA790CB}"/>
                  </a:ext>
                </a:extLst>
              </p:cNvPr>
              <p:cNvSpPr txBox="1">
                <a:spLocks noRot="1" noChangeAspect="1" noMove="1" noResize="1" noEditPoints="1" noAdjustHandles="1" noChangeArrowheads="1" noChangeShapeType="1" noTextEdit="1"/>
              </p:cNvSpPr>
              <p:nvPr/>
            </p:nvSpPr>
            <p:spPr>
              <a:xfrm>
                <a:off x="854015" y="491707"/>
                <a:ext cx="10532853" cy="5460021"/>
              </a:xfrm>
              <a:prstGeom prst="rect">
                <a:avLst/>
              </a:prstGeom>
              <a:blipFill>
                <a:blip r:embed="rId2"/>
                <a:stretch>
                  <a:fillRect l="-1157" t="-1117" b="-2346"/>
                </a:stretch>
              </a:blipFill>
            </p:spPr>
            <p:txBody>
              <a:bodyPr/>
              <a:lstStyle/>
              <a:p>
                <a:r>
                  <a:rPr lang="en-IN">
                    <a:noFill/>
                  </a:rPr>
                  <a:t> </a:t>
                </a:r>
              </a:p>
            </p:txBody>
          </p:sp>
        </mc:Fallback>
      </mc:AlternateContent>
    </p:spTree>
    <p:extLst>
      <p:ext uri="{BB962C8B-B14F-4D97-AF65-F5344CB8AC3E}">
        <p14:creationId xmlns:p14="http://schemas.microsoft.com/office/powerpoint/2010/main" val="39042725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041676A7-9E94-55A0-BFB2-8C6F6899CB0E}"/>
                  </a:ext>
                </a:extLst>
              </p:cNvPr>
              <p:cNvSpPr txBox="1"/>
              <p:nvPr/>
            </p:nvSpPr>
            <p:spPr>
              <a:xfrm>
                <a:off x="250166" y="621103"/>
                <a:ext cx="11386868" cy="5819094"/>
              </a:xfrm>
              <a:prstGeom prst="rect">
                <a:avLst/>
              </a:prstGeom>
              <a:noFill/>
            </p:spPr>
            <p:txBody>
              <a:bodyPr wrap="square">
                <a:spAutoFit/>
              </a:bodyPr>
              <a:lstStyle/>
              <a:p>
                <a:pPr algn="l" rtl="0" fontAlgn="base">
                  <a:spcAft>
                    <a:spcPts val="750"/>
                  </a:spcAft>
                  <a:buNone/>
                </a:pPr>
                <a:r>
                  <a:rPr lang="en-IN" sz="2800" b="1" i="0" dirty="0">
                    <a:solidFill>
                      <a:srgbClr val="273239"/>
                    </a:solidFill>
                    <a:effectLst/>
                  </a:rPr>
                  <a:t>Discriminator Loss Function:</a:t>
                </a:r>
                <a:r>
                  <a:rPr lang="en-IN" sz="2800" b="0" i="0" dirty="0">
                    <a:solidFill>
                      <a:srgbClr val="273239"/>
                    </a:solidFill>
                    <a:effectLst/>
                  </a:rPr>
                  <a:t> The discriminator tries to minimize this loss:</a:t>
                </a:r>
              </a:p>
              <a:p>
                <a:pPr algn="l" rtl="0" fontAlgn="base">
                  <a:spcBef>
                    <a:spcPts val="750"/>
                  </a:spcBef>
                  <a:spcAft>
                    <a:spcPts val="750"/>
                  </a:spcAft>
                  <a:buNone/>
                </a:pPr>
                <a14:m>
                  <m:oMathPara xmlns:m="http://schemas.openxmlformats.org/officeDocument/2006/math">
                    <m:oMathParaPr>
                      <m:jc m:val="centerGroup"/>
                    </m:oMathParaPr>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𝐽</m:t>
                          </m:r>
                        </m:e>
                        <m:sub>
                          <m:r>
                            <a:rPr lang="ar-AE" sz="2800" i="1">
                              <a:latin typeface="Cambria Math" panose="02040503050406030204" pitchFamily="18" charset="0"/>
                            </a:rPr>
                            <m:t>𝐷</m:t>
                          </m:r>
                        </m:sub>
                      </m:sSub>
                      <m:r>
                        <a:rPr lang="ar-AE" sz="2800" i="0">
                          <a:latin typeface="Cambria Math" panose="02040503050406030204" pitchFamily="18" charset="0"/>
                        </a:rPr>
                        <m:t>=−</m:t>
                      </m:r>
                      <m:f>
                        <m:fPr>
                          <m:ctrlPr>
                            <a:rPr lang="ar-AE" sz="2800" i="1">
                              <a:latin typeface="Cambria Math" panose="02040503050406030204" pitchFamily="18" charset="0"/>
                            </a:rPr>
                          </m:ctrlPr>
                        </m:fPr>
                        <m:num>
                          <m:r>
                            <a:rPr lang="ar-AE" sz="2800" i="0">
                              <a:latin typeface="Cambria Math" panose="02040503050406030204" pitchFamily="18" charset="0"/>
                            </a:rPr>
                            <m:t>1</m:t>
                          </m:r>
                        </m:num>
                        <m:den>
                          <m:r>
                            <a:rPr lang="ar-AE" sz="2800" i="1">
                              <a:latin typeface="Cambria Math" panose="02040503050406030204" pitchFamily="18" charset="0"/>
                            </a:rPr>
                            <m:t>𝑚</m:t>
                          </m:r>
                        </m:den>
                      </m:f>
                      <m:sSubSup>
                        <m:sSubSupPr>
                          <m:ctrlPr>
                            <a:rPr lang="ar-AE" sz="2800" i="1">
                              <a:latin typeface="Cambria Math" panose="02040503050406030204" pitchFamily="18" charset="0"/>
                            </a:rPr>
                          </m:ctrlPr>
                        </m:sSubSupPr>
                        <m:e>
                          <m:r>
                            <m:rPr>
                              <m:sty m:val="p"/>
                            </m:rPr>
                            <a:rPr lang="el-GR" sz="2800" i="0">
                              <a:latin typeface="Cambria Math" panose="02040503050406030204" pitchFamily="18" charset="0"/>
                            </a:rPr>
                            <m:t>Σ</m:t>
                          </m:r>
                        </m:e>
                        <m:sub>
                          <m:r>
                            <a:rPr lang="ar-AE" sz="2800" i="1">
                              <a:latin typeface="Cambria Math" panose="02040503050406030204" pitchFamily="18" charset="0"/>
                            </a:rPr>
                            <m:t>𝑖</m:t>
                          </m:r>
                          <m:r>
                            <a:rPr lang="ar-AE" sz="2800" i="0">
                              <a:latin typeface="Cambria Math" panose="02040503050406030204" pitchFamily="18" charset="0"/>
                            </a:rPr>
                            <m:t>=</m:t>
                          </m:r>
                          <m:r>
                            <a:rPr lang="ar-AE" sz="2800" i="0">
                              <a:latin typeface="Cambria Math" panose="02040503050406030204" pitchFamily="18" charset="0"/>
                            </a:rPr>
                            <m:t>1</m:t>
                          </m:r>
                        </m:sub>
                        <m:sup>
                          <m:r>
                            <a:rPr lang="ar-AE" sz="2800" i="1">
                              <a:latin typeface="Cambria Math" panose="02040503050406030204" pitchFamily="18" charset="0"/>
                            </a:rPr>
                            <m:t>𝑚</m:t>
                          </m:r>
                        </m:sup>
                      </m:sSubSup>
                      <m:r>
                        <a:rPr lang="ar-AE" sz="2800" i="1">
                          <a:latin typeface="Cambria Math" panose="02040503050406030204" pitchFamily="18" charset="0"/>
                        </a:rPr>
                        <m:t>𝑙𝑜𝑔𝐷</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𝑖</m:t>
                              </m:r>
                            </m:sub>
                          </m:sSub>
                        </m:e>
                      </m:d>
                      <m:r>
                        <a:rPr lang="ar-AE" sz="2800" i="0">
                          <a:latin typeface="Cambria Math" panose="02040503050406030204" pitchFamily="18" charset="0"/>
                        </a:rPr>
                        <m:t>−</m:t>
                      </m:r>
                      <m:f>
                        <m:fPr>
                          <m:ctrlPr>
                            <a:rPr lang="ar-AE" sz="2800" i="1">
                              <a:latin typeface="Cambria Math" panose="02040503050406030204" pitchFamily="18" charset="0"/>
                            </a:rPr>
                          </m:ctrlPr>
                        </m:fPr>
                        <m:num>
                          <m:r>
                            <a:rPr lang="ar-AE" sz="2800" i="0">
                              <a:latin typeface="Cambria Math" panose="02040503050406030204" pitchFamily="18" charset="0"/>
                            </a:rPr>
                            <m:t>1</m:t>
                          </m:r>
                        </m:num>
                        <m:den>
                          <m:r>
                            <a:rPr lang="ar-AE" sz="2800" i="1">
                              <a:latin typeface="Cambria Math" panose="02040503050406030204" pitchFamily="18" charset="0"/>
                            </a:rPr>
                            <m:t>𝑚</m:t>
                          </m:r>
                        </m:den>
                      </m:f>
                      <m:sSubSup>
                        <m:sSubSupPr>
                          <m:ctrlPr>
                            <a:rPr lang="ar-AE" sz="2800" i="1">
                              <a:latin typeface="Cambria Math" panose="02040503050406030204" pitchFamily="18" charset="0"/>
                            </a:rPr>
                          </m:ctrlPr>
                        </m:sSubSupPr>
                        <m:e>
                          <m:r>
                            <m:rPr>
                              <m:sty m:val="p"/>
                            </m:rPr>
                            <a:rPr lang="el-GR" sz="2800" i="0">
                              <a:latin typeface="Cambria Math" panose="02040503050406030204" pitchFamily="18" charset="0"/>
                            </a:rPr>
                            <m:t>Σ</m:t>
                          </m:r>
                        </m:e>
                        <m:sub>
                          <m:r>
                            <a:rPr lang="ar-AE" sz="2800" i="1">
                              <a:latin typeface="Cambria Math" panose="02040503050406030204" pitchFamily="18" charset="0"/>
                            </a:rPr>
                            <m:t>𝑖</m:t>
                          </m:r>
                          <m:r>
                            <a:rPr lang="ar-AE" sz="2800" i="0">
                              <a:latin typeface="Cambria Math" panose="02040503050406030204" pitchFamily="18" charset="0"/>
                            </a:rPr>
                            <m:t>=</m:t>
                          </m:r>
                          <m:r>
                            <a:rPr lang="ar-AE" sz="2800" i="0">
                              <a:latin typeface="Cambria Math" panose="02040503050406030204" pitchFamily="18" charset="0"/>
                            </a:rPr>
                            <m:t>1</m:t>
                          </m:r>
                        </m:sub>
                        <m:sup>
                          <m:r>
                            <a:rPr lang="ar-AE" sz="2800" i="1">
                              <a:latin typeface="Cambria Math" panose="02040503050406030204" pitchFamily="18" charset="0"/>
                            </a:rPr>
                            <m:t>𝑚</m:t>
                          </m:r>
                        </m:sup>
                      </m:sSubSup>
                      <m:r>
                        <a:rPr lang="ar-AE" sz="2800" i="1">
                          <a:latin typeface="Cambria Math" panose="02040503050406030204" pitchFamily="18" charset="0"/>
                        </a:rPr>
                        <m:t>𝑙𝑜𝑔</m:t>
                      </m:r>
                      <m:d>
                        <m:dPr>
                          <m:endChr m:val=""/>
                          <m:ctrlPr>
                            <a:rPr lang="ar-AE" sz="2800" i="1">
                              <a:latin typeface="Cambria Math" panose="02040503050406030204" pitchFamily="18" charset="0"/>
                            </a:rPr>
                          </m:ctrlPr>
                        </m:dPr>
                        <m:e>
                          <m:r>
                            <a:rPr lang="ar-AE" sz="2800" i="0">
                              <a:latin typeface="Cambria Math" panose="02040503050406030204" pitchFamily="18" charset="0"/>
                            </a:rPr>
                            <m:t>1</m:t>
                          </m:r>
                          <m:r>
                            <a:rPr lang="ar-AE" sz="2800" i="0">
                              <a:latin typeface="Cambria Math" panose="02040503050406030204" pitchFamily="18" charset="0"/>
                            </a:rPr>
                            <m:t>−</m:t>
                          </m:r>
                          <m:r>
                            <a:rPr lang="ar-AE"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e>
                          </m:d>
                        </m:e>
                      </m:d>
                    </m:oMath>
                  </m:oMathPara>
                </a14:m>
                <a:endParaRPr lang="ar-AE" sz="2800" b="0" i="1" dirty="0">
                  <a:solidFill>
                    <a:srgbClr val="273239"/>
                  </a:solidFill>
                  <a:effectLst/>
                </a:endParaRPr>
              </a:p>
              <a:p>
                <a:pPr algn="l" fontAlgn="base">
                  <a:spcAft>
                    <a:spcPts val="1800"/>
                  </a:spcAft>
                  <a:buFont typeface="Arial" panose="020B0604020202020204" pitchFamily="34" charset="0"/>
                  <a:buChar char="•"/>
                </a:pP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𝐽</m:t>
                        </m:r>
                      </m:e>
                      <m:sub>
                        <m:r>
                          <a:rPr lang="ar-AE" sz="2800" i="1">
                            <a:latin typeface="Cambria Math" panose="02040503050406030204" pitchFamily="18" charset="0"/>
                          </a:rPr>
                          <m:t>𝐷</m:t>
                        </m:r>
                      </m:sub>
                    </m:sSub>
                  </m:oMath>
                </a14:m>
                <a:r>
                  <a:rPr lang="ar-AE" sz="2800" b="0" i="0" dirty="0">
                    <a:solidFill>
                      <a:srgbClr val="273239"/>
                    </a:solidFill>
                    <a:effectLst/>
                  </a:rPr>
                  <a:t> </a:t>
                </a:r>
                <a:r>
                  <a:rPr lang="en-IN" sz="2800" b="0" i="0" dirty="0">
                    <a:solidFill>
                      <a:srgbClr val="273239"/>
                    </a:solidFill>
                    <a:effectLst/>
                  </a:rPr>
                  <a:t>measures how well the discriminator classifies real and fake samples.</a:t>
                </a:r>
              </a:p>
              <a:p>
                <a:pPr algn="l" fontAlgn="base">
                  <a:spcAft>
                    <a:spcPts val="1800"/>
                  </a:spcAft>
                  <a:buFont typeface="Arial" panose="020B0604020202020204" pitchFamily="34" charset="0"/>
                  <a:buChar char="•"/>
                </a:pP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𝑖</m:t>
                        </m:r>
                      </m:sub>
                    </m:sSub>
                  </m:oMath>
                </a14:m>
                <a:r>
                  <a:rPr lang="ar-AE" sz="2800" b="0" i="0" dirty="0">
                    <a:solidFill>
                      <a:srgbClr val="273239"/>
                    </a:solidFill>
                    <a:effectLst/>
                  </a:rPr>
                  <a:t> </a:t>
                </a:r>
                <a:r>
                  <a:rPr lang="en-IN" sz="2800" b="0" i="0" dirty="0">
                    <a:solidFill>
                      <a:srgbClr val="273239"/>
                    </a:solidFill>
                    <a:effectLst/>
                  </a:rPr>
                  <a:t>is a real data sample.</a:t>
                </a:r>
              </a:p>
              <a:p>
                <a:pPr algn="l" fontAlgn="base">
                  <a:spcAft>
                    <a:spcPts val="1800"/>
                  </a:spcAft>
                  <a:buFont typeface="Arial" panose="020B0604020202020204" pitchFamily="34" charset="0"/>
                  <a:buChar char="•"/>
                </a:pPr>
                <a14:m>
                  <m:oMath xmlns:m="http://schemas.openxmlformats.org/officeDocument/2006/math">
                    <m:r>
                      <a:rPr lang="en-IN"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oMath>
                </a14:m>
                <a:r>
                  <a:rPr lang="ar-AE" sz="2800" b="0" i="0" dirty="0">
                    <a:solidFill>
                      <a:srgbClr val="273239"/>
                    </a:solidFill>
                    <a:effectLst/>
                  </a:rPr>
                  <a:t> </a:t>
                </a:r>
                <a:r>
                  <a:rPr lang="en-IN" sz="2800" b="0" i="0" dirty="0">
                    <a:solidFill>
                      <a:srgbClr val="273239"/>
                    </a:solidFill>
                    <a:effectLst/>
                  </a:rPr>
                  <a:t>is a fake sample from the generator.</a:t>
                </a:r>
              </a:p>
              <a:p>
                <a:pPr algn="l" fontAlgn="base">
                  <a:spcAft>
                    <a:spcPts val="1800"/>
                  </a:spcAft>
                  <a:buFont typeface="Arial" panose="020B0604020202020204" pitchFamily="34" charset="0"/>
                  <a:buChar char="•"/>
                </a:pPr>
                <a14:m>
                  <m:oMath xmlns:m="http://schemas.openxmlformats.org/officeDocument/2006/math">
                    <m:r>
                      <a:rPr lang="en-IN" sz="2800" i="1">
                        <a:latin typeface="Cambria Math" panose="02040503050406030204" pitchFamily="18" charset="0"/>
                      </a:rPr>
                      <m:t>𝐷</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𝑖</m:t>
                            </m:r>
                          </m:sub>
                        </m:sSub>
                      </m:e>
                    </m:d>
                  </m:oMath>
                </a14:m>
                <a:r>
                  <a:rPr lang="ar-AE" sz="2800" b="0" i="0" dirty="0">
                    <a:solidFill>
                      <a:srgbClr val="273239"/>
                    </a:solidFill>
                    <a:effectLst/>
                  </a:rPr>
                  <a:t> </a:t>
                </a:r>
                <a:r>
                  <a:rPr lang="en-IN" sz="2800" b="0" i="0" dirty="0">
                    <a:solidFill>
                      <a:srgbClr val="273239"/>
                    </a:solidFill>
                    <a:effectLst/>
                  </a:rPr>
                  <a:t>is the discriminator’s probability that </a:t>
                </a: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𝑖</m:t>
                        </m:r>
                      </m:sub>
                    </m:sSub>
                  </m:oMath>
                </a14:m>
                <a:r>
                  <a:rPr lang="ar-AE" sz="2800" b="0" i="0" dirty="0">
                    <a:solidFill>
                      <a:srgbClr val="273239"/>
                    </a:solidFill>
                    <a:effectLst/>
                  </a:rPr>
                  <a:t> </a:t>
                </a:r>
                <a:r>
                  <a:rPr lang="en-IN" sz="2800" b="0" i="0" dirty="0">
                    <a:solidFill>
                      <a:srgbClr val="273239"/>
                    </a:solidFill>
                    <a:effectLst/>
                  </a:rPr>
                  <a:t>is real.</a:t>
                </a:r>
              </a:p>
              <a:p>
                <a:pPr algn="l" fontAlgn="base">
                  <a:spcAft>
                    <a:spcPts val="1800"/>
                  </a:spcAft>
                  <a:buFont typeface="Arial" panose="020B0604020202020204" pitchFamily="34" charset="0"/>
                  <a:buChar char="•"/>
                </a:pPr>
                <a14:m>
                  <m:oMath xmlns:m="http://schemas.openxmlformats.org/officeDocument/2006/math">
                    <m:r>
                      <a:rPr lang="en-IN"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e>
                    </m:d>
                  </m:oMath>
                </a14:m>
                <a:r>
                  <a:rPr lang="ar-AE" sz="2800" b="0" i="0" dirty="0">
                    <a:solidFill>
                      <a:srgbClr val="273239"/>
                    </a:solidFill>
                    <a:effectLst/>
                  </a:rPr>
                  <a:t> </a:t>
                </a:r>
                <a:r>
                  <a:rPr lang="en-IN" sz="2800" b="0" i="0" dirty="0">
                    <a:solidFill>
                      <a:srgbClr val="273239"/>
                    </a:solidFill>
                    <a:effectLst/>
                  </a:rPr>
                  <a:t>is the discriminator’s probability that the fake sample is real.</a:t>
                </a:r>
              </a:p>
              <a:p>
                <a:pPr algn="l" rtl="0" fontAlgn="base">
                  <a:spcAft>
                    <a:spcPts val="750"/>
                  </a:spcAft>
                  <a:buNone/>
                </a:pPr>
                <a:r>
                  <a:rPr lang="en-IN" sz="2800" b="0" i="0" dirty="0">
                    <a:solidFill>
                      <a:srgbClr val="273239"/>
                    </a:solidFill>
                    <a:effectLst/>
                  </a:rPr>
                  <a:t>The discriminator wants to correctly classify real data as real (maximize </a:t>
                </a:r>
                <a14:m>
                  <m:oMath xmlns:m="http://schemas.openxmlformats.org/officeDocument/2006/math">
                    <m:r>
                      <a:rPr lang="en-IN" sz="2800" i="1">
                        <a:latin typeface="Cambria Math" panose="02040503050406030204" pitchFamily="18" charset="0"/>
                      </a:rPr>
                      <m:t>𝑙𝑜𝑔𝐷</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𝑖</m:t>
                            </m:r>
                          </m:sub>
                        </m:sSub>
                      </m:e>
                    </m:d>
                  </m:oMath>
                </a14:m>
                <a:r>
                  <a:rPr lang="ar-AE" sz="2800" b="0" i="0" dirty="0">
                    <a:solidFill>
                      <a:srgbClr val="273239"/>
                    </a:solidFill>
                    <a:effectLst/>
                  </a:rPr>
                  <a:t> </a:t>
                </a:r>
                <a:r>
                  <a:rPr lang="en-IN" sz="2800" b="0" i="0" dirty="0">
                    <a:solidFill>
                      <a:srgbClr val="273239"/>
                    </a:solidFill>
                    <a:effectLst/>
                  </a:rPr>
                  <a:t>and fake data as fake (maximize </a:t>
                </a:r>
                <a14:m>
                  <m:oMath xmlns:m="http://schemas.openxmlformats.org/officeDocument/2006/math">
                    <m:r>
                      <a:rPr lang="en-IN" sz="2800" i="1">
                        <a:latin typeface="Cambria Math" panose="02040503050406030204" pitchFamily="18" charset="0"/>
                      </a:rPr>
                      <m:t>𝑙𝑜𝑔</m:t>
                    </m:r>
                    <m:d>
                      <m:dPr>
                        <m:endChr m:val=""/>
                        <m:ctrlPr>
                          <a:rPr lang="ar-AE" sz="2800" i="1">
                            <a:latin typeface="Cambria Math" panose="02040503050406030204" pitchFamily="18" charset="0"/>
                          </a:rPr>
                        </m:ctrlPr>
                      </m:dPr>
                      <m:e>
                        <m:r>
                          <a:rPr lang="ar-AE" sz="2800" i="0">
                            <a:latin typeface="Cambria Math" panose="02040503050406030204" pitchFamily="18" charset="0"/>
                          </a:rPr>
                          <m:t>1</m:t>
                        </m:r>
                        <m:r>
                          <a:rPr lang="ar-AE" sz="2800" i="0">
                            <a:latin typeface="Cambria Math" panose="02040503050406030204" pitchFamily="18" charset="0"/>
                          </a:rPr>
                          <m:t>−</m:t>
                        </m:r>
                        <m:r>
                          <a:rPr lang="ar-AE"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𝐺</m:t>
                            </m:r>
                            <m:d>
                              <m:dPr>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1">
                                        <a:latin typeface="Cambria Math" panose="02040503050406030204" pitchFamily="18" charset="0"/>
                                      </a:rPr>
                                      <m:t>𝑧</m:t>
                                    </m:r>
                                  </m:e>
                                  <m:sub>
                                    <m:r>
                                      <a:rPr lang="ar-AE" sz="2800" i="1">
                                        <a:latin typeface="Cambria Math" panose="02040503050406030204" pitchFamily="18" charset="0"/>
                                      </a:rPr>
                                      <m:t>𝑖</m:t>
                                    </m:r>
                                  </m:sub>
                                </m:sSub>
                              </m:e>
                            </m:d>
                          </m:e>
                        </m:d>
                      </m:e>
                    </m:d>
                  </m:oMath>
                </a14:m>
                <a:r>
                  <a:rPr lang="ar-AE" sz="2800" b="0" i="0" dirty="0">
                    <a:solidFill>
                      <a:srgbClr val="273239"/>
                    </a:solidFill>
                    <a:effectLst/>
                  </a:rPr>
                  <a:t>)</a:t>
                </a:r>
              </a:p>
            </p:txBody>
          </p:sp>
        </mc:Choice>
        <mc:Fallback xmlns="">
          <p:sp>
            <p:nvSpPr>
              <p:cNvPr id="3" name="TextBox 2">
                <a:extLst>
                  <a:ext uri="{FF2B5EF4-FFF2-40B4-BE49-F238E27FC236}">
                    <a16:creationId xmlns:a16="http://schemas.microsoft.com/office/drawing/2014/main" id="{041676A7-9E94-55A0-BFB2-8C6F6899CB0E}"/>
                  </a:ext>
                </a:extLst>
              </p:cNvPr>
              <p:cNvSpPr txBox="1">
                <a:spLocks noRot="1" noChangeAspect="1" noMove="1" noResize="1" noEditPoints="1" noAdjustHandles="1" noChangeArrowheads="1" noChangeShapeType="1" noTextEdit="1"/>
              </p:cNvSpPr>
              <p:nvPr/>
            </p:nvSpPr>
            <p:spPr>
              <a:xfrm>
                <a:off x="250166" y="621103"/>
                <a:ext cx="11386868" cy="5819094"/>
              </a:xfrm>
              <a:prstGeom prst="rect">
                <a:avLst/>
              </a:prstGeom>
              <a:blipFill>
                <a:blip r:embed="rId2"/>
                <a:stretch>
                  <a:fillRect l="-1071" t="-1048" b="-1782"/>
                </a:stretch>
              </a:blipFill>
            </p:spPr>
            <p:txBody>
              <a:bodyPr/>
              <a:lstStyle/>
              <a:p>
                <a:r>
                  <a:rPr lang="en-IN">
                    <a:noFill/>
                  </a:rPr>
                  <a:t> </a:t>
                </a:r>
              </a:p>
            </p:txBody>
          </p:sp>
        </mc:Fallback>
      </mc:AlternateContent>
    </p:spTree>
    <p:extLst>
      <p:ext uri="{BB962C8B-B14F-4D97-AF65-F5344CB8AC3E}">
        <p14:creationId xmlns:p14="http://schemas.microsoft.com/office/powerpoint/2010/main" val="8853936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 xmlns:a16="http://schemas.microsoft.com/office/drawing/2014/main" id="{80FBFAD3-1B16-CDE1-A2F8-A3FD412CA5A2}"/>
                  </a:ext>
                </a:extLst>
              </p:cNvPr>
              <p:cNvSpPr txBox="1"/>
              <p:nvPr/>
            </p:nvSpPr>
            <p:spPr>
              <a:xfrm>
                <a:off x="310550" y="293299"/>
                <a:ext cx="11585275" cy="6132576"/>
              </a:xfrm>
              <a:prstGeom prst="rect">
                <a:avLst/>
              </a:prstGeom>
              <a:noFill/>
            </p:spPr>
            <p:txBody>
              <a:bodyPr wrap="square">
                <a:spAutoFit/>
              </a:bodyPr>
              <a:lstStyle/>
              <a:p>
                <a:pPr algn="l" fontAlgn="base">
                  <a:spcBef>
                    <a:spcPts val="1800"/>
                  </a:spcBef>
                  <a:spcAft>
                    <a:spcPts val="1800"/>
                  </a:spcAft>
                  <a:buNone/>
                </a:pPr>
                <a:r>
                  <a:rPr lang="en-IN" sz="2800" b="1" i="0" dirty="0">
                    <a:solidFill>
                      <a:srgbClr val="273239"/>
                    </a:solidFill>
                    <a:effectLst/>
                  </a:rPr>
                  <a:t>MinMax Loss</a:t>
                </a:r>
              </a:p>
              <a:p>
                <a:pPr algn="l" rtl="0" fontAlgn="base">
                  <a:spcAft>
                    <a:spcPts val="750"/>
                  </a:spcAft>
                  <a:buNone/>
                </a:pPr>
                <a:r>
                  <a:rPr lang="en-IN" sz="2800" b="0" i="0" dirty="0">
                    <a:solidFill>
                      <a:srgbClr val="273239"/>
                    </a:solidFill>
                    <a:effectLst/>
                  </a:rPr>
                  <a:t>GANs are trained using a </a:t>
                </a:r>
                <a:r>
                  <a:rPr lang="en-IN" sz="2800" b="0" i="0" u="sng" dirty="0">
                    <a:solidFill>
                      <a:srgbClr val="357960"/>
                    </a:solidFill>
                    <a:effectLst/>
                    <a:hlinkClick r:id="rId2"/>
                  </a:rPr>
                  <a:t>MinMax Loss</a:t>
                </a:r>
                <a:r>
                  <a:rPr lang="en-IN" sz="2800" b="0" i="0" dirty="0">
                    <a:solidFill>
                      <a:srgbClr val="273239"/>
                    </a:solidFill>
                    <a:effectLst/>
                  </a:rPr>
                  <a:t> between the generator and discriminator:</a:t>
                </a:r>
              </a:p>
              <a:p>
                <a:pPr algn="l" rtl="0" fontAlgn="base">
                  <a:spcBef>
                    <a:spcPts val="750"/>
                  </a:spcBef>
                  <a:spcAft>
                    <a:spcPts val="750"/>
                  </a:spcAft>
                  <a:buNone/>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𝑚𝑖</m:t>
                      </m:r>
                      <m:sSub>
                        <m:sSubPr>
                          <m:ctrlPr>
                            <a:rPr lang="ar-AE" sz="2800" i="1">
                              <a:latin typeface="Cambria Math" panose="02040503050406030204" pitchFamily="18" charset="0"/>
                            </a:rPr>
                          </m:ctrlPr>
                        </m:sSubPr>
                        <m:e>
                          <m:r>
                            <a:rPr lang="ar-AE" sz="2800" i="1">
                              <a:latin typeface="Cambria Math" panose="02040503050406030204" pitchFamily="18" charset="0"/>
                            </a:rPr>
                            <m:t>𝑛</m:t>
                          </m:r>
                        </m:e>
                        <m:sub>
                          <m:r>
                            <a:rPr lang="ar-AE" sz="2800" i="1">
                              <a:latin typeface="Cambria Math" panose="02040503050406030204" pitchFamily="18" charset="0"/>
                            </a:rPr>
                            <m:t>𝐺</m:t>
                          </m:r>
                        </m:sub>
                      </m:sSub>
                      <m:r>
                        <a:rPr lang="ar-AE" sz="2800" i="1">
                          <a:latin typeface="Cambria Math" panose="02040503050406030204" pitchFamily="18" charset="0"/>
                        </a:rPr>
                        <m:t>𝑚𝑎</m:t>
                      </m:r>
                      <m:sSub>
                        <m:sSubPr>
                          <m:ctrlPr>
                            <a:rPr lang="ar-AE" sz="2800" i="1">
                              <a:latin typeface="Cambria Math" panose="02040503050406030204" pitchFamily="18" charset="0"/>
                            </a:rPr>
                          </m:ctrlPr>
                        </m:sSubPr>
                        <m:e>
                          <m:r>
                            <a:rPr lang="ar-AE" sz="2800" i="1">
                              <a:latin typeface="Cambria Math" panose="02040503050406030204" pitchFamily="18" charset="0"/>
                            </a:rPr>
                            <m:t>𝑥</m:t>
                          </m:r>
                        </m:e>
                        <m:sub>
                          <m:r>
                            <a:rPr lang="ar-AE" sz="2800" i="1">
                              <a:latin typeface="Cambria Math" panose="02040503050406030204" pitchFamily="18" charset="0"/>
                            </a:rPr>
                            <m:t>𝐷</m:t>
                          </m:r>
                        </m:sub>
                      </m:sSub>
                      <m:d>
                        <m:dPr>
                          <m:sepChr m:val=","/>
                          <m:ctrlPr>
                            <a:rPr lang="ar-AE" sz="2800" i="1">
                              <a:latin typeface="Cambria Math" panose="02040503050406030204" pitchFamily="18" charset="0"/>
                            </a:rPr>
                          </m:ctrlPr>
                        </m:dPr>
                        <m:e>
                          <m:r>
                            <a:rPr lang="ar-AE" sz="2800" i="1">
                              <a:latin typeface="Cambria Math" panose="02040503050406030204" pitchFamily="18" charset="0"/>
                            </a:rPr>
                            <m:t>𝐺</m:t>
                          </m:r>
                        </m:e>
                        <m:e>
                          <m:r>
                            <a:rPr lang="ar-AE" sz="2800" i="1">
                              <a:latin typeface="Cambria Math" panose="02040503050406030204" pitchFamily="18" charset="0"/>
                            </a:rPr>
                            <m:t>𝐷</m:t>
                          </m:r>
                        </m:e>
                      </m:d>
                      <m:r>
                        <a:rPr lang="ar-AE" sz="2800" i="0">
                          <a:latin typeface="Cambria Math" panose="02040503050406030204" pitchFamily="18" charset="0"/>
                        </a:rPr>
                        <m:t>=</m:t>
                      </m:r>
                      <m:d>
                        <m:dPr>
                          <m:begChr m:val="["/>
                          <m:endChr m:val=""/>
                          <m:ctrlPr>
                            <a:rPr lang="ar-AE" sz="2800" i="1">
                              <a:latin typeface="Cambria Math" panose="02040503050406030204" pitchFamily="18" charset="0"/>
                            </a:rPr>
                          </m:ctrlPr>
                        </m:dPr>
                        <m:e>
                          <m:sSub>
                            <m:sSubPr>
                              <m:ctrlPr>
                                <a:rPr lang="ar-AE" sz="2800" i="1">
                                  <a:latin typeface="Cambria Math" panose="02040503050406030204" pitchFamily="18" charset="0"/>
                                </a:rPr>
                              </m:ctrlPr>
                            </m:sSubPr>
                            <m:e>
                              <m:r>
                                <a:rPr lang="ar-AE" sz="2800" i="0">
                                  <a:latin typeface="Cambria Math" panose="02040503050406030204" pitchFamily="18" charset="0"/>
                                </a:rPr>
                                <m:t>𝔼</m:t>
                              </m:r>
                            </m:e>
                            <m:sub>
                              <m:r>
                                <a:rPr lang="ar-AE" sz="2800" i="1">
                                  <a:latin typeface="Cambria Math" panose="02040503050406030204" pitchFamily="18" charset="0"/>
                                </a:rPr>
                                <m:t>𝑥</m:t>
                              </m:r>
                              <m:r>
                                <a:rPr lang="ar-AE" sz="2800" i="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𝑝</m:t>
                                  </m:r>
                                </m:e>
                                <m:sub>
                                  <m:r>
                                    <a:rPr lang="ar-AE" sz="2800" i="1">
                                      <a:latin typeface="Cambria Math" panose="02040503050406030204" pitchFamily="18" charset="0"/>
                                    </a:rPr>
                                    <m:t>𝑑𝑎𝑡𝑎</m:t>
                                  </m:r>
                                </m:sub>
                              </m:sSub>
                            </m:sub>
                          </m:sSub>
                          <m:d>
                            <m:dPr>
                              <m:begChr m:val="["/>
                              <m:endChr m:val="]"/>
                              <m:ctrlPr>
                                <a:rPr lang="ar-AE" sz="2800" i="1">
                                  <a:latin typeface="Cambria Math" panose="02040503050406030204" pitchFamily="18" charset="0"/>
                                </a:rPr>
                              </m:ctrlPr>
                            </m:dPr>
                            <m:e>
                              <m:r>
                                <a:rPr lang="ar-AE" sz="2800" i="1">
                                  <a:latin typeface="Cambria Math" panose="02040503050406030204" pitchFamily="18" charset="0"/>
                                </a:rPr>
                                <m:t>𝑙𝑜𝑔𝐷</m:t>
                              </m:r>
                              <m:d>
                                <m:dPr>
                                  <m:ctrlPr>
                                    <a:rPr lang="ar-AE" sz="2800" i="1">
                                      <a:latin typeface="Cambria Math" panose="02040503050406030204" pitchFamily="18" charset="0"/>
                                    </a:rPr>
                                  </m:ctrlPr>
                                </m:dPr>
                                <m:e>
                                  <m:r>
                                    <a:rPr lang="ar-AE" sz="2800" i="1">
                                      <a:latin typeface="Cambria Math" panose="02040503050406030204" pitchFamily="18" charset="0"/>
                                    </a:rPr>
                                    <m:t>𝑥</m:t>
                                  </m:r>
                                </m:e>
                              </m:d>
                            </m:e>
                          </m:d>
                          <m:r>
                            <a:rPr lang="ar-AE" sz="2800" i="0">
                              <a:latin typeface="Cambria Math" panose="02040503050406030204" pitchFamily="18" charset="0"/>
                            </a:rPr>
                            <m:t>+</m:t>
                          </m:r>
                          <m:sSub>
                            <m:sSubPr>
                              <m:ctrlPr>
                                <a:rPr lang="ar-AE" sz="2800" i="1">
                                  <a:latin typeface="Cambria Math" panose="02040503050406030204" pitchFamily="18" charset="0"/>
                                </a:rPr>
                              </m:ctrlPr>
                            </m:sSubPr>
                            <m:e>
                              <m:r>
                                <a:rPr lang="ar-AE" sz="2800" i="0">
                                  <a:latin typeface="Cambria Math" panose="02040503050406030204" pitchFamily="18" charset="0"/>
                                </a:rPr>
                                <m:t>𝔼</m:t>
                              </m:r>
                            </m:e>
                            <m:sub>
                              <m:r>
                                <a:rPr lang="ar-AE" sz="2800" i="1">
                                  <a:latin typeface="Cambria Math" panose="02040503050406030204" pitchFamily="18" charset="0"/>
                                </a:rPr>
                                <m:t>𝑧</m:t>
                              </m:r>
                              <m:r>
                                <a:rPr lang="ar-AE" sz="2800" i="0">
                                  <a:latin typeface="Cambria Math" panose="02040503050406030204" pitchFamily="18" charset="0"/>
                                </a:rPr>
                                <m:t>∼</m:t>
                              </m:r>
                              <m:sSub>
                                <m:sSubPr>
                                  <m:ctrlPr>
                                    <a:rPr lang="ar-AE" sz="2800" i="1">
                                      <a:latin typeface="Cambria Math" panose="02040503050406030204" pitchFamily="18" charset="0"/>
                                    </a:rPr>
                                  </m:ctrlPr>
                                </m:sSubPr>
                                <m:e>
                                  <m:r>
                                    <a:rPr lang="ar-AE" sz="2800" i="1">
                                      <a:latin typeface="Cambria Math" panose="02040503050406030204" pitchFamily="18" charset="0"/>
                                    </a:rPr>
                                    <m:t>𝑝</m:t>
                                  </m:r>
                                </m:e>
                                <m:sub>
                                  <m:r>
                                    <a:rPr lang="ar-AE" sz="2800" i="1">
                                      <a:latin typeface="Cambria Math" panose="02040503050406030204" pitchFamily="18" charset="0"/>
                                    </a:rPr>
                                    <m:t>𝑧</m:t>
                                  </m:r>
                                </m:sub>
                              </m:sSub>
                              <m:d>
                                <m:dPr>
                                  <m:ctrlPr>
                                    <a:rPr lang="ar-AE" sz="2800" i="1">
                                      <a:latin typeface="Cambria Math" panose="02040503050406030204" pitchFamily="18" charset="0"/>
                                    </a:rPr>
                                  </m:ctrlPr>
                                </m:dPr>
                                <m:e>
                                  <m:r>
                                    <a:rPr lang="ar-AE" sz="2800" i="1">
                                      <a:latin typeface="Cambria Math" panose="02040503050406030204" pitchFamily="18" charset="0"/>
                                    </a:rPr>
                                    <m:t>𝑧</m:t>
                                  </m:r>
                                </m:e>
                              </m:d>
                            </m:sub>
                          </m:sSub>
                          <m:d>
                            <m:dPr>
                              <m:begChr m:val="["/>
                              <m:endChr m:val="]"/>
                              <m:ctrlPr>
                                <a:rPr lang="ar-AE" sz="2800" i="1">
                                  <a:latin typeface="Cambria Math" panose="02040503050406030204" pitchFamily="18" charset="0"/>
                                </a:rPr>
                              </m:ctrlPr>
                            </m:dPr>
                            <m:e>
                              <m:r>
                                <a:rPr lang="ar-AE" sz="2800" i="1">
                                  <a:latin typeface="Cambria Math" panose="02040503050406030204" pitchFamily="18" charset="0"/>
                                </a:rPr>
                                <m:t>𝑙𝑜𝑔</m:t>
                              </m:r>
                              <m:d>
                                <m:dPr>
                                  <m:ctrlPr>
                                    <a:rPr lang="ar-AE" sz="2800" i="1">
                                      <a:latin typeface="Cambria Math" panose="02040503050406030204" pitchFamily="18" charset="0"/>
                                    </a:rPr>
                                  </m:ctrlPr>
                                </m:dPr>
                                <m:e>
                                  <m:r>
                                    <a:rPr lang="ar-AE" sz="2800" i="0">
                                      <a:latin typeface="Cambria Math" panose="02040503050406030204" pitchFamily="18" charset="0"/>
                                    </a:rPr>
                                    <m:t>1</m:t>
                                  </m:r>
                                  <m:r>
                                    <a:rPr lang="ar-AE" sz="2800" i="0">
                                      <a:latin typeface="Cambria Math" panose="02040503050406030204" pitchFamily="18" charset="0"/>
                                    </a:rPr>
                                    <m:t>−</m:t>
                                  </m:r>
                                  <m:r>
                                    <a:rPr lang="ar-AE"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𝑔</m:t>
                                      </m:r>
                                      <m:d>
                                        <m:dPr>
                                          <m:ctrlPr>
                                            <a:rPr lang="ar-AE" sz="2800" i="1">
                                              <a:latin typeface="Cambria Math" panose="02040503050406030204" pitchFamily="18" charset="0"/>
                                            </a:rPr>
                                          </m:ctrlPr>
                                        </m:dPr>
                                        <m:e>
                                          <m:r>
                                            <a:rPr lang="ar-AE" sz="2800" i="1">
                                              <a:latin typeface="Cambria Math" panose="02040503050406030204" pitchFamily="18" charset="0"/>
                                            </a:rPr>
                                            <m:t>𝑧</m:t>
                                          </m:r>
                                        </m:e>
                                      </m:d>
                                    </m:e>
                                  </m:d>
                                </m:e>
                              </m:d>
                            </m:e>
                          </m:d>
                        </m:e>
                      </m:d>
                    </m:oMath>
                  </m:oMathPara>
                </a14:m>
                <a:endParaRPr lang="ar-AE" sz="2800" b="0" i="1" dirty="0">
                  <a:solidFill>
                    <a:srgbClr val="273239"/>
                  </a:solidFill>
                  <a:effectLst/>
                </a:endParaRPr>
              </a:p>
              <a:p>
                <a:pPr algn="l" rtl="0" fontAlgn="base">
                  <a:spcAft>
                    <a:spcPts val="750"/>
                  </a:spcAft>
                  <a:buNone/>
                </a:pPr>
                <a:r>
                  <a:rPr lang="en-IN" sz="2800" b="0" i="0" dirty="0">
                    <a:solidFill>
                      <a:srgbClr val="273239"/>
                    </a:solidFill>
                    <a:effectLst/>
                  </a:rPr>
                  <a:t>where,</a:t>
                </a:r>
              </a:p>
              <a:p>
                <a:pPr algn="l" fontAlgn="base">
                  <a:spcAft>
                    <a:spcPts val="1800"/>
                  </a:spcAft>
                  <a:buFont typeface="Arial" panose="020B0604020202020204" pitchFamily="34" charset="0"/>
                  <a:buChar char="•"/>
                </a:pPr>
                <a14:m>
                  <m:oMath xmlns:m="http://schemas.openxmlformats.org/officeDocument/2006/math">
                    <m:r>
                      <a:rPr lang="en-IN" sz="2800" i="1">
                        <a:latin typeface="Cambria Math" panose="02040503050406030204" pitchFamily="18" charset="0"/>
                      </a:rPr>
                      <m:t>𝐺</m:t>
                    </m:r>
                  </m:oMath>
                </a14:m>
                <a:r>
                  <a:rPr lang="en-IN" sz="2800" b="0" i="0" dirty="0">
                    <a:solidFill>
                      <a:srgbClr val="273239"/>
                    </a:solidFill>
                    <a:effectLst/>
                  </a:rPr>
                  <a:t>is generator network and is </a:t>
                </a:r>
                <a14:m>
                  <m:oMath xmlns:m="http://schemas.openxmlformats.org/officeDocument/2006/math">
                    <m:r>
                      <a:rPr lang="en-IN" sz="2800" i="1">
                        <a:latin typeface="Cambria Math" panose="02040503050406030204" pitchFamily="18" charset="0"/>
                      </a:rPr>
                      <m:t>𝐷</m:t>
                    </m:r>
                  </m:oMath>
                </a14:m>
                <a:r>
                  <a:rPr lang="en-IN" sz="2800" b="0" i="0" dirty="0">
                    <a:solidFill>
                      <a:srgbClr val="273239"/>
                    </a:solidFill>
                    <a:effectLst/>
                  </a:rPr>
                  <a:t> is the discriminator network</a:t>
                </a:r>
              </a:p>
              <a:p>
                <a:pPr algn="l" fontAlgn="base">
                  <a:spcAft>
                    <a:spcPts val="1800"/>
                  </a:spcAft>
                  <a:buFont typeface="Arial" panose="020B0604020202020204" pitchFamily="34" charset="0"/>
                  <a:buChar char="•"/>
                </a:pP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𝑝</m:t>
                        </m:r>
                      </m:e>
                      <m:sub>
                        <m:r>
                          <a:rPr lang="ar-AE" sz="2800" i="1">
                            <a:latin typeface="Cambria Math" panose="02040503050406030204" pitchFamily="18" charset="0"/>
                          </a:rPr>
                          <m:t>𝑑𝑎𝑡𝑎</m:t>
                        </m:r>
                      </m:sub>
                    </m:sSub>
                    <m:d>
                      <m:dPr>
                        <m:ctrlPr>
                          <a:rPr lang="ar-AE" sz="2800" i="1">
                            <a:latin typeface="Cambria Math" panose="02040503050406030204" pitchFamily="18" charset="0"/>
                          </a:rPr>
                        </m:ctrlPr>
                      </m:dPr>
                      <m:e>
                        <m:r>
                          <a:rPr lang="ar-AE" sz="2800" i="1">
                            <a:latin typeface="Cambria Math" panose="02040503050406030204" pitchFamily="18" charset="0"/>
                          </a:rPr>
                          <m:t>𝑥</m:t>
                        </m:r>
                      </m:e>
                    </m:d>
                  </m:oMath>
                </a14:m>
                <a:r>
                  <a:rPr lang="ar-AE" sz="2800" b="0" i="0" dirty="0">
                    <a:solidFill>
                      <a:srgbClr val="273239"/>
                    </a:solidFill>
                    <a:effectLst/>
                  </a:rPr>
                  <a:t> = </a:t>
                </a:r>
                <a:r>
                  <a:rPr lang="en-IN" sz="2800" b="0" i="0" dirty="0">
                    <a:solidFill>
                      <a:srgbClr val="273239"/>
                    </a:solidFill>
                    <a:effectLst/>
                  </a:rPr>
                  <a:t>true data distribution</a:t>
                </a:r>
              </a:p>
              <a:p>
                <a:pPr algn="l" fontAlgn="base">
                  <a:spcAft>
                    <a:spcPts val="1800"/>
                  </a:spcAft>
                  <a:buFont typeface="Arial" panose="020B0604020202020204" pitchFamily="34" charset="0"/>
                  <a:buChar char="•"/>
                </a:pPr>
                <a14:m>
                  <m:oMath xmlns:m="http://schemas.openxmlformats.org/officeDocument/2006/math">
                    <m:sSub>
                      <m:sSubPr>
                        <m:ctrlPr>
                          <a:rPr lang="ar-AE" sz="2800" i="1">
                            <a:latin typeface="Cambria Math" panose="02040503050406030204" pitchFamily="18" charset="0"/>
                          </a:rPr>
                        </m:ctrlPr>
                      </m:sSubPr>
                      <m:e>
                        <m:r>
                          <a:rPr lang="ar-AE" sz="2800" i="1">
                            <a:latin typeface="Cambria Math" panose="02040503050406030204" pitchFamily="18" charset="0"/>
                          </a:rPr>
                          <m:t>𝑝</m:t>
                        </m:r>
                      </m:e>
                      <m:sub>
                        <m:r>
                          <a:rPr lang="ar-AE" sz="2800" i="1">
                            <a:latin typeface="Cambria Math" panose="02040503050406030204" pitchFamily="18" charset="0"/>
                          </a:rPr>
                          <m:t>𝑧</m:t>
                        </m:r>
                      </m:sub>
                    </m:sSub>
                    <m:d>
                      <m:dPr>
                        <m:ctrlPr>
                          <a:rPr lang="ar-AE" sz="2800" i="1">
                            <a:latin typeface="Cambria Math" panose="02040503050406030204" pitchFamily="18" charset="0"/>
                          </a:rPr>
                        </m:ctrlPr>
                      </m:dPr>
                      <m:e>
                        <m:r>
                          <a:rPr lang="ar-AE" sz="2800" i="1">
                            <a:latin typeface="Cambria Math" panose="02040503050406030204" pitchFamily="18" charset="0"/>
                          </a:rPr>
                          <m:t>𝑧</m:t>
                        </m:r>
                      </m:e>
                    </m:d>
                  </m:oMath>
                </a14:m>
                <a:r>
                  <a:rPr lang="ar-AE" sz="2800" b="0" i="0" dirty="0">
                    <a:solidFill>
                      <a:srgbClr val="273239"/>
                    </a:solidFill>
                    <a:effectLst/>
                  </a:rPr>
                  <a:t>= </a:t>
                </a:r>
                <a:r>
                  <a:rPr lang="en-IN" sz="2800" b="0" i="0" dirty="0">
                    <a:solidFill>
                      <a:srgbClr val="273239"/>
                    </a:solidFill>
                    <a:effectLst/>
                  </a:rPr>
                  <a:t>distribution of random noise (usually normal or uniform)</a:t>
                </a:r>
              </a:p>
              <a:p>
                <a:pPr algn="l" fontAlgn="base">
                  <a:spcAft>
                    <a:spcPts val="1800"/>
                  </a:spcAft>
                  <a:buFont typeface="Arial" panose="020B0604020202020204" pitchFamily="34" charset="0"/>
                  <a:buChar char="•"/>
                </a:pPr>
                <a14:m>
                  <m:oMath xmlns:m="http://schemas.openxmlformats.org/officeDocument/2006/math">
                    <m:r>
                      <a:rPr lang="en-IN"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𝑥</m:t>
                        </m:r>
                      </m:e>
                    </m:d>
                  </m:oMath>
                </a14:m>
                <a:r>
                  <a:rPr lang="ar-AE" sz="2800" b="0" i="0" dirty="0">
                    <a:solidFill>
                      <a:srgbClr val="273239"/>
                    </a:solidFill>
                    <a:effectLst/>
                  </a:rPr>
                  <a:t> = </a:t>
                </a:r>
                <a:r>
                  <a:rPr lang="en-IN" sz="2800" b="0" i="0" dirty="0">
                    <a:solidFill>
                      <a:srgbClr val="273239"/>
                    </a:solidFill>
                    <a:effectLst/>
                  </a:rPr>
                  <a:t>discriminator’s estimate of real data</a:t>
                </a:r>
              </a:p>
              <a:p>
                <a:pPr algn="l" fontAlgn="base">
                  <a:spcAft>
                    <a:spcPts val="1800"/>
                  </a:spcAft>
                  <a:buFont typeface="Arial" panose="020B0604020202020204" pitchFamily="34" charset="0"/>
                  <a:buChar char="•"/>
                </a:pPr>
                <a14:m>
                  <m:oMath xmlns:m="http://schemas.openxmlformats.org/officeDocument/2006/math">
                    <m:r>
                      <a:rPr lang="en-IN" sz="2800" i="1">
                        <a:latin typeface="Cambria Math" panose="02040503050406030204" pitchFamily="18" charset="0"/>
                      </a:rPr>
                      <m:t>𝐷</m:t>
                    </m:r>
                    <m:d>
                      <m:dPr>
                        <m:ctrlPr>
                          <a:rPr lang="ar-AE" sz="2800" i="1">
                            <a:latin typeface="Cambria Math" panose="02040503050406030204" pitchFamily="18" charset="0"/>
                          </a:rPr>
                        </m:ctrlPr>
                      </m:dPr>
                      <m:e>
                        <m:r>
                          <a:rPr lang="ar-AE" sz="2800" i="1">
                            <a:latin typeface="Cambria Math" panose="02040503050406030204" pitchFamily="18" charset="0"/>
                          </a:rPr>
                          <m:t>𝐺</m:t>
                        </m:r>
                        <m:d>
                          <m:dPr>
                            <m:ctrlPr>
                              <a:rPr lang="ar-AE" sz="2800" i="1">
                                <a:latin typeface="Cambria Math" panose="02040503050406030204" pitchFamily="18" charset="0"/>
                              </a:rPr>
                            </m:ctrlPr>
                          </m:dPr>
                          <m:e>
                            <m:r>
                              <a:rPr lang="ar-AE" sz="2800" i="1">
                                <a:latin typeface="Cambria Math" panose="02040503050406030204" pitchFamily="18" charset="0"/>
                              </a:rPr>
                              <m:t>𝑧</m:t>
                            </m:r>
                          </m:e>
                        </m:d>
                      </m:e>
                    </m:d>
                  </m:oMath>
                </a14:m>
                <a:r>
                  <a:rPr lang="ar-AE" sz="2800" b="0" i="0" dirty="0">
                    <a:solidFill>
                      <a:srgbClr val="273239"/>
                    </a:solidFill>
                    <a:effectLst/>
                  </a:rPr>
                  <a:t>= </a:t>
                </a:r>
                <a:r>
                  <a:rPr lang="en-IN" sz="2800" b="0" i="0" dirty="0">
                    <a:solidFill>
                      <a:srgbClr val="273239"/>
                    </a:solidFill>
                    <a:effectLst/>
                  </a:rPr>
                  <a:t>discriminator’s estimate of generated data</a:t>
                </a:r>
              </a:p>
            </p:txBody>
          </p:sp>
        </mc:Choice>
        <mc:Fallback xmlns="">
          <p:sp>
            <p:nvSpPr>
              <p:cNvPr id="3" name="TextBox 2">
                <a:extLst>
                  <a:ext uri="{FF2B5EF4-FFF2-40B4-BE49-F238E27FC236}">
                    <a16:creationId xmlns:a16="http://schemas.microsoft.com/office/drawing/2014/main" id="{80FBFAD3-1B16-CDE1-A2F8-A3FD412CA5A2}"/>
                  </a:ext>
                </a:extLst>
              </p:cNvPr>
              <p:cNvSpPr txBox="1">
                <a:spLocks noRot="1" noChangeAspect="1" noMove="1" noResize="1" noEditPoints="1" noAdjustHandles="1" noChangeArrowheads="1" noChangeShapeType="1" noTextEdit="1"/>
              </p:cNvSpPr>
              <p:nvPr/>
            </p:nvSpPr>
            <p:spPr>
              <a:xfrm>
                <a:off x="310550" y="293299"/>
                <a:ext cx="11585275" cy="6132576"/>
              </a:xfrm>
              <a:prstGeom prst="rect">
                <a:avLst/>
              </a:prstGeom>
              <a:blipFill>
                <a:blip r:embed="rId3"/>
                <a:stretch>
                  <a:fillRect l="-1105" t="-895" b="-1590"/>
                </a:stretch>
              </a:blipFill>
            </p:spPr>
            <p:txBody>
              <a:bodyPr/>
              <a:lstStyle/>
              <a:p>
                <a:r>
                  <a:rPr lang="en-IN">
                    <a:noFill/>
                  </a:rPr>
                  <a:t> </a:t>
                </a:r>
              </a:p>
            </p:txBody>
          </p:sp>
        </mc:Fallback>
      </mc:AlternateContent>
    </p:spTree>
    <p:extLst>
      <p:ext uri="{BB962C8B-B14F-4D97-AF65-F5344CB8AC3E}">
        <p14:creationId xmlns:p14="http://schemas.microsoft.com/office/powerpoint/2010/main" val="11935017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9A6DB2F3-8F07-E210-348C-0BD4BDA1A2CB}"/>
              </a:ext>
            </a:extLst>
          </p:cNvPr>
          <p:cNvSpPr txBox="1"/>
          <p:nvPr/>
        </p:nvSpPr>
        <p:spPr>
          <a:xfrm>
            <a:off x="491706" y="543464"/>
            <a:ext cx="10343071" cy="2677656"/>
          </a:xfrm>
          <a:prstGeom prst="rect">
            <a:avLst/>
          </a:prstGeom>
          <a:noFill/>
        </p:spPr>
        <p:txBody>
          <a:bodyPr wrap="square">
            <a:spAutoFit/>
          </a:bodyPr>
          <a:lstStyle/>
          <a:p>
            <a:pPr algn="just" fontAlgn="base">
              <a:buNone/>
            </a:pPr>
            <a:r>
              <a:rPr lang="en-IN" sz="2800" b="1" i="0" dirty="0">
                <a:solidFill>
                  <a:srgbClr val="3C484E"/>
                </a:solidFill>
                <a:effectLst/>
              </a:rPr>
              <a:t>Types of Generative Adversarial Networks (GANs) are:</a:t>
            </a:r>
          </a:p>
          <a:p>
            <a:pPr marL="514350" indent="-514350" algn="just" fontAlgn="base">
              <a:buFont typeface="+mj-lt"/>
              <a:buAutoNum type="arabicPeriod"/>
            </a:pPr>
            <a:r>
              <a:rPr lang="en-IN" sz="2800" b="0" i="0" dirty="0">
                <a:solidFill>
                  <a:srgbClr val="3C484E"/>
                </a:solidFill>
                <a:effectLst/>
              </a:rPr>
              <a:t>Vanilla GAN</a:t>
            </a:r>
          </a:p>
          <a:p>
            <a:pPr marL="514350" indent="-514350" algn="just" fontAlgn="base">
              <a:buFont typeface="+mj-lt"/>
              <a:buAutoNum type="arabicPeriod"/>
            </a:pPr>
            <a:r>
              <a:rPr lang="en-IN" sz="2800" b="0" i="0" dirty="0">
                <a:solidFill>
                  <a:srgbClr val="3C484E"/>
                </a:solidFill>
                <a:effectLst/>
              </a:rPr>
              <a:t>Conditional Gan (CGAN)</a:t>
            </a:r>
          </a:p>
          <a:p>
            <a:pPr marL="514350" indent="-514350" algn="just" fontAlgn="base">
              <a:buFont typeface="+mj-lt"/>
              <a:buAutoNum type="arabicPeriod"/>
            </a:pPr>
            <a:r>
              <a:rPr lang="en-IN" sz="2800" b="0" i="0" dirty="0">
                <a:solidFill>
                  <a:srgbClr val="3C484E"/>
                </a:solidFill>
                <a:effectLst/>
              </a:rPr>
              <a:t>Deep Convolutional GAN (DCGAN)</a:t>
            </a:r>
          </a:p>
          <a:p>
            <a:pPr marL="514350" indent="-514350" algn="just" fontAlgn="base">
              <a:buFont typeface="+mj-lt"/>
              <a:buAutoNum type="arabicPeriod"/>
            </a:pPr>
            <a:r>
              <a:rPr lang="en-IN" sz="2800" b="0" i="0" dirty="0" err="1">
                <a:solidFill>
                  <a:srgbClr val="3C484E"/>
                </a:solidFill>
                <a:effectLst/>
              </a:rPr>
              <a:t>CycleGAN</a:t>
            </a:r>
            <a:endParaRPr lang="en-IN" sz="2800" b="0" i="0" dirty="0">
              <a:solidFill>
                <a:srgbClr val="3C484E"/>
              </a:solidFill>
              <a:effectLst/>
            </a:endParaRPr>
          </a:p>
          <a:p>
            <a:pPr marL="514350" indent="-514350" algn="just" fontAlgn="base">
              <a:buFont typeface="+mj-lt"/>
              <a:buAutoNum type="arabicPeriod"/>
            </a:pPr>
            <a:r>
              <a:rPr lang="en-IN" sz="2800" b="0" i="0" dirty="0">
                <a:solidFill>
                  <a:srgbClr val="3C484E"/>
                </a:solidFill>
                <a:effectLst/>
              </a:rPr>
              <a:t>Generative Adversarial Text to Image Synthesis</a:t>
            </a:r>
          </a:p>
        </p:txBody>
      </p:sp>
    </p:spTree>
    <p:extLst>
      <p:ext uri="{BB962C8B-B14F-4D97-AF65-F5344CB8AC3E}">
        <p14:creationId xmlns:p14="http://schemas.microsoft.com/office/powerpoint/2010/main" val="18828694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7513FC8-52C2-E3DD-B4C5-4A5A1EE1E6DB}"/>
              </a:ext>
            </a:extLst>
          </p:cNvPr>
          <p:cNvSpPr txBox="1"/>
          <p:nvPr/>
        </p:nvSpPr>
        <p:spPr>
          <a:xfrm>
            <a:off x="508959" y="621102"/>
            <a:ext cx="11404120" cy="2554545"/>
          </a:xfrm>
          <a:prstGeom prst="rect">
            <a:avLst/>
          </a:prstGeom>
          <a:noFill/>
        </p:spPr>
        <p:txBody>
          <a:bodyPr wrap="square">
            <a:spAutoFit/>
          </a:bodyPr>
          <a:lstStyle/>
          <a:p>
            <a:pPr marL="514350" indent="-514350" algn="just">
              <a:buAutoNum type="arabicPeriod"/>
            </a:pPr>
            <a:r>
              <a:rPr lang="en-US" sz="3200" b="1" i="0" dirty="0">
                <a:solidFill>
                  <a:srgbClr val="090A0B"/>
                </a:solidFill>
                <a:effectLst/>
              </a:rPr>
              <a:t>Vanilla GAN</a:t>
            </a:r>
            <a:r>
              <a:rPr lang="en-US" sz="3200" b="0" i="0" dirty="0">
                <a:solidFill>
                  <a:srgbClr val="3C484E"/>
                </a:solidFill>
                <a:effectLst/>
              </a:rPr>
              <a:t> </a:t>
            </a:r>
          </a:p>
          <a:p>
            <a:pPr marL="457200" indent="-457200" algn="just">
              <a:buFont typeface="Arial" panose="020B0604020202020204" pitchFamily="34" charset="0"/>
              <a:buChar char="•"/>
            </a:pPr>
            <a:r>
              <a:rPr lang="en-US" sz="3200" dirty="0"/>
              <a:t>This is the simplest type of GAN. Here, the Generator and the Discriminator are simple multi-layer </a:t>
            </a:r>
            <a:r>
              <a:rPr lang="en-US" sz="3200" dirty="0" err="1"/>
              <a:t>perceptrons</a:t>
            </a:r>
            <a:r>
              <a:rPr lang="en-US" sz="3200" dirty="0"/>
              <a:t>.</a:t>
            </a:r>
          </a:p>
          <a:p>
            <a:pPr marL="457200" indent="-457200" algn="just">
              <a:buFont typeface="Arial" panose="020B0604020202020204" pitchFamily="34" charset="0"/>
              <a:buChar char="•"/>
            </a:pPr>
            <a:r>
              <a:rPr lang="en-US" sz="3200" dirty="0"/>
              <a:t>In Vanilla GAN, the algorithm is really simple; it tries to optimize the mathematical equation using stochastic gradient descent.</a:t>
            </a:r>
            <a:r>
              <a:rPr lang="en-US" sz="3200" i="0" dirty="0">
                <a:solidFill>
                  <a:srgbClr val="3C484E"/>
                </a:solidFill>
                <a:effectLst/>
              </a:rPr>
              <a:t>.</a:t>
            </a:r>
            <a:endParaRPr lang="en-IN" sz="3200" dirty="0"/>
          </a:p>
        </p:txBody>
      </p:sp>
    </p:spTree>
    <p:extLst>
      <p:ext uri="{BB962C8B-B14F-4D97-AF65-F5344CB8AC3E}">
        <p14:creationId xmlns:p14="http://schemas.microsoft.com/office/powerpoint/2010/main" val="305317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1">
            <a:extLst>
              <a:ext uri="{FF2B5EF4-FFF2-40B4-BE49-F238E27FC236}">
                <a16:creationId xmlns="" xmlns:a16="http://schemas.microsoft.com/office/drawing/2014/main" id="{3E8BB0F0-3B92-29D8-7250-DA68A4D6F6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5641" y="931653"/>
            <a:ext cx="10695037" cy="3836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20416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74BECCFF-E55D-FA19-FAFA-FDC0756DAD00}"/>
              </a:ext>
            </a:extLst>
          </p:cNvPr>
          <p:cNvSpPr txBox="1"/>
          <p:nvPr/>
        </p:nvSpPr>
        <p:spPr>
          <a:xfrm>
            <a:off x="500332" y="612476"/>
            <a:ext cx="11300604" cy="3108543"/>
          </a:xfrm>
          <a:prstGeom prst="rect">
            <a:avLst/>
          </a:prstGeom>
          <a:noFill/>
        </p:spPr>
        <p:txBody>
          <a:bodyPr wrap="square">
            <a:spAutoFit/>
          </a:bodyPr>
          <a:lstStyle/>
          <a:p>
            <a:pPr>
              <a:buNone/>
            </a:pPr>
            <a:r>
              <a:rPr lang="en-US" sz="2800" b="1" dirty="0"/>
              <a:t>2. Conditional GAN (CGAN)</a:t>
            </a:r>
          </a:p>
          <a:p>
            <a:pPr marL="457200" indent="-457200" algn="just">
              <a:buFont typeface="Arial" panose="020B0604020202020204" pitchFamily="34" charset="0"/>
              <a:buChar char="•"/>
            </a:pPr>
            <a:r>
              <a:rPr lang="en-US" sz="2800" dirty="0"/>
              <a:t>CGAN can be described as a </a:t>
            </a:r>
            <a:r>
              <a:rPr lang="en-US" sz="2800" b="1" dirty="0"/>
              <a:t>deep learning method</a:t>
            </a:r>
            <a:r>
              <a:rPr lang="en-US" sz="2800" dirty="0"/>
              <a:t> in which some </a:t>
            </a:r>
            <a:r>
              <a:rPr lang="en-US" sz="2800" b="1" dirty="0"/>
              <a:t>conditional parameters</a:t>
            </a:r>
            <a:r>
              <a:rPr lang="en-US" sz="2800" dirty="0"/>
              <a:t> are put into place. </a:t>
            </a:r>
          </a:p>
          <a:p>
            <a:pPr marL="457200" indent="-457200" algn="just">
              <a:buFont typeface="Arial" panose="020B0604020202020204" pitchFamily="34" charset="0"/>
              <a:buChar char="•"/>
            </a:pPr>
            <a:r>
              <a:rPr lang="en-US" sz="2800" dirty="0"/>
              <a:t>In CGAN, an additional parameter </a:t>
            </a:r>
            <a:r>
              <a:rPr lang="en-US" sz="2800" b="1" dirty="0"/>
              <a:t>‘y’</a:t>
            </a:r>
            <a:r>
              <a:rPr lang="en-US" sz="2800" dirty="0"/>
              <a:t> is added to the </a:t>
            </a:r>
            <a:r>
              <a:rPr lang="en-US" sz="2800" b="1" dirty="0"/>
              <a:t>Generator</a:t>
            </a:r>
            <a:r>
              <a:rPr lang="en-US" sz="2800" dirty="0"/>
              <a:t> for generating the corresponding data. </a:t>
            </a:r>
          </a:p>
          <a:p>
            <a:pPr marL="457200" indent="-457200" algn="just">
              <a:buFont typeface="Arial" panose="020B0604020202020204" pitchFamily="34" charset="0"/>
              <a:buChar char="•"/>
            </a:pPr>
            <a:r>
              <a:rPr lang="en-US" sz="2800" b="1" dirty="0"/>
              <a:t>Labels</a:t>
            </a:r>
            <a:r>
              <a:rPr lang="en-US" sz="2800" dirty="0"/>
              <a:t> are also provided as input to the </a:t>
            </a:r>
            <a:r>
              <a:rPr lang="en-US" sz="2800" b="1" dirty="0"/>
              <a:t>Discriminator</a:t>
            </a:r>
            <a:r>
              <a:rPr lang="en-US" sz="2800" dirty="0"/>
              <a:t> so that it can help distinguish </a:t>
            </a:r>
            <a:r>
              <a:rPr lang="en-US" sz="2800" b="1" dirty="0"/>
              <a:t>real data from fake generated data</a:t>
            </a:r>
            <a:r>
              <a:rPr lang="en-US" sz="2800" dirty="0"/>
              <a:t>.</a:t>
            </a:r>
          </a:p>
        </p:txBody>
      </p:sp>
    </p:spTree>
    <p:extLst>
      <p:ext uri="{BB962C8B-B14F-4D97-AF65-F5344CB8AC3E}">
        <p14:creationId xmlns:p14="http://schemas.microsoft.com/office/powerpoint/2010/main" val="35669691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32D1B23B-23C9-C1CE-7CFD-C510C66BDD16}"/>
              </a:ext>
            </a:extLst>
          </p:cNvPr>
          <p:cNvPicPr>
            <a:picLocks noChangeAspect="1"/>
          </p:cNvPicPr>
          <p:nvPr/>
        </p:nvPicPr>
        <p:blipFill>
          <a:blip r:embed="rId2"/>
          <a:stretch>
            <a:fillRect/>
          </a:stretch>
        </p:blipFill>
        <p:spPr>
          <a:xfrm>
            <a:off x="951782" y="690180"/>
            <a:ext cx="10288436" cy="5477639"/>
          </a:xfrm>
          <a:prstGeom prst="rect">
            <a:avLst/>
          </a:prstGeom>
        </p:spPr>
      </p:pic>
    </p:spTree>
    <p:extLst>
      <p:ext uri="{BB962C8B-B14F-4D97-AF65-F5344CB8AC3E}">
        <p14:creationId xmlns:p14="http://schemas.microsoft.com/office/powerpoint/2010/main" val="10516861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EF78A1E1-5764-13CC-CDC7-E885DD4A171C}"/>
              </a:ext>
            </a:extLst>
          </p:cNvPr>
          <p:cNvSpPr txBox="1"/>
          <p:nvPr/>
        </p:nvSpPr>
        <p:spPr>
          <a:xfrm>
            <a:off x="552090" y="526212"/>
            <a:ext cx="11205713" cy="4031873"/>
          </a:xfrm>
          <a:prstGeom prst="rect">
            <a:avLst/>
          </a:prstGeom>
          <a:noFill/>
        </p:spPr>
        <p:txBody>
          <a:bodyPr wrap="square">
            <a:spAutoFit/>
          </a:bodyPr>
          <a:lstStyle/>
          <a:p>
            <a:pPr algn="just">
              <a:buNone/>
            </a:pPr>
            <a:r>
              <a:rPr lang="en-US" sz="3200" b="1" dirty="0"/>
              <a:t>3. Deep Convolutional GAN (DCGAN)</a:t>
            </a:r>
          </a:p>
          <a:p>
            <a:pPr marL="457200" indent="-457200" algn="just">
              <a:buFont typeface="Arial" panose="020B0604020202020204" pitchFamily="34" charset="0"/>
              <a:buChar char="•"/>
            </a:pPr>
            <a:r>
              <a:rPr lang="en-US" sz="3200" dirty="0"/>
              <a:t>DCGAN is one of the most popular and most successful implementations of GAN. </a:t>
            </a:r>
          </a:p>
          <a:p>
            <a:pPr marL="457200" indent="-457200" algn="just">
              <a:buFont typeface="Arial" panose="020B0604020202020204" pitchFamily="34" charset="0"/>
              <a:buChar char="•"/>
            </a:pPr>
            <a:r>
              <a:rPr lang="en-US" sz="3200" dirty="0"/>
              <a:t>It is composed of Convolutional Neural Networks (</a:t>
            </a:r>
            <a:r>
              <a:rPr lang="en-US" sz="3200" dirty="0" err="1"/>
              <a:t>ConvNets</a:t>
            </a:r>
            <a:r>
              <a:rPr lang="en-US" sz="3200" dirty="0"/>
              <a:t>) instead of multi-layer </a:t>
            </a:r>
            <a:r>
              <a:rPr lang="en-US" sz="3200" dirty="0" err="1"/>
              <a:t>perceptrons</a:t>
            </a:r>
            <a:r>
              <a:rPr lang="en-US" sz="3200" dirty="0"/>
              <a:t>. </a:t>
            </a:r>
          </a:p>
          <a:p>
            <a:pPr marL="457200" indent="-457200" algn="just">
              <a:buFont typeface="Arial" panose="020B0604020202020204" pitchFamily="34" charset="0"/>
              <a:buChar char="•"/>
            </a:pPr>
            <a:r>
              <a:rPr lang="en-US" sz="3200" dirty="0"/>
              <a:t>The </a:t>
            </a:r>
            <a:r>
              <a:rPr lang="en-US" sz="3200" dirty="0" err="1"/>
              <a:t>ConvNets</a:t>
            </a:r>
            <a:r>
              <a:rPr lang="en-US" sz="3200" dirty="0"/>
              <a:t> are implemented without max pooling, which is replaced by convolutional stride. </a:t>
            </a:r>
          </a:p>
          <a:p>
            <a:pPr marL="457200" indent="-457200" algn="just">
              <a:buFont typeface="Arial" panose="020B0604020202020204" pitchFamily="34" charset="0"/>
              <a:buChar char="•"/>
            </a:pPr>
            <a:r>
              <a:rPr lang="en-US" sz="3200" dirty="0"/>
              <a:t>Also, the layers are not fully connected.</a:t>
            </a:r>
          </a:p>
        </p:txBody>
      </p:sp>
    </p:spTree>
    <p:extLst>
      <p:ext uri="{BB962C8B-B14F-4D97-AF65-F5344CB8AC3E}">
        <p14:creationId xmlns:p14="http://schemas.microsoft.com/office/powerpoint/2010/main" val="2892721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5">
            <a:extLst>
              <a:ext uri="{FF2B5EF4-FFF2-40B4-BE49-F238E27FC236}">
                <a16:creationId xmlns="" xmlns:a16="http://schemas.microsoft.com/office/drawing/2014/main" id="{B267B20D-68F8-B126-526C-EA8B2BF16E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472" y="565058"/>
            <a:ext cx="10576098" cy="425117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DFEB4472-7942-6D7C-B882-6BDAD33AFF64}"/>
              </a:ext>
            </a:extLst>
          </p:cNvPr>
          <p:cNvSpPr txBox="1"/>
          <p:nvPr/>
        </p:nvSpPr>
        <p:spPr>
          <a:xfrm>
            <a:off x="776376" y="5141665"/>
            <a:ext cx="10230929" cy="523220"/>
          </a:xfrm>
          <a:prstGeom prst="rect">
            <a:avLst/>
          </a:prstGeom>
          <a:noFill/>
        </p:spPr>
        <p:txBody>
          <a:bodyPr wrap="square">
            <a:spAutoFit/>
          </a:bodyPr>
          <a:lstStyle/>
          <a:p>
            <a:r>
              <a:rPr lang="en-US" sz="2800" b="0" i="1" u="none" strike="noStrike" dirty="0">
                <a:solidFill>
                  <a:srgbClr val="138DFF"/>
                </a:solidFill>
                <a:effectLst/>
                <a:latin typeface="DM Sans" pitchFamily="2" charset="0"/>
                <a:hlinkClick r:id="rId3"/>
              </a:rPr>
              <a:t>Generator of DCGAN with fractionally </a:t>
            </a:r>
            <a:r>
              <a:rPr lang="en-US" sz="2800" b="0" i="1" u="none" strike="noStrike" dirty="0" err="1">
                <a:solidFill>
                  <a:srgbClr val="138DFF"/>
                </a:solidFill>
                <a:effectLst/>
                <a:latin typeface="DM Sans" pitchFamily="2" charset="0"/>
                <a:hlinkClick r:id="rId3"/>
              </a:rPr>
              <a:t>strided</a:t>
            </a:r>
            <a:r>
              <a:rPr lang="en-US" sz="2800" b="0" i="1" u="none" strike="noStrike" dirty="0">
                <a:solidFill>
                  <a:srgbClr val="138DFF"/>
                </a:solidFill>
                <a:effectLst/>
                <a:latin typeface="DM Sans" pitchFamily="2" charset="0"/>
                <a:hlinkClick r:id="rId3"/>
              </a:rPr>
              <a:t> convolutional layers</a:t>
            </a:r>
            <a:endParaRPr lang="en-IN" sz="2800" dirty="0"/>
          </a:p>
        </p:txBody>
      </p:sp>
    </p:spTree>
    <p:extLst>
      <p:ext uri="{BB962C8B-B14F-4D97-AF65-F5344CB8AC3E}">
        <p14:creationId xmlns:p14="http://schemas.microsoft.com/office/powerpoint/2010/main" val="4085143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cgan-discriminator - Deep Convolutional GAN">
            <a:extLst>
              <a:ext uri="{FF2B5EF4-FFF2-40B4-BE49-F238E27FC236}">
                <a16:creationId xmlns="" xmlns:a16="http://schemas.microsoft.com/office/drawing/2014/main" id="{29D198EE-22B2-B984-4AF6-42BACFC34A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107" y="1080425"/>
            <a:ext cx="8627942" cy="41085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BCF1055D-4C58-1D73-3158-BC7B425FBE5D}"/>
              </a:ext>
            </a:extLst>
          </p:cNvPr>
          <p:cNvSpPr txBox="1"/>
          <p:nvPr/>
        </p:nvSpPr>
        <p:spPr>
          <a:xfrm>
            <a:off x="3047281" y="5139280"/>
            <a:ext cx="6094562" cy="2031325"/>
          </a:xfrm>
          <a:prstGeom prst="rect">
            <a:avLst/>
          </a:prstGeom>
          <a:noFill/>
        </p:spPr>
        <p:txBody>
          <a:bodyPr wrap="square">
            <a:spAutoFit/>
          </a:bodyPr>
          <a:lstStyle/>
          <a:p>
            <a:r>
              <a:rPr lang="en-US" u="none" strike="noStrike" dirty="0">
                <a:solidFill>
                  <a:srgbClr val="333366"/>
                </a:solidFill>
                <a:effectLst/>
                <a:latin typeface="DM Sans" panose="020F0502020204030204" pitchFamily="2" charset="0"/>
                <a:hlinkClick r:id="rId3"/>
              </a:rPr>
              <a:t>Discriminator of DCGAN with </a:t>
            </a:r>
            <a:r>
              <a:rPr lang="en-US" u="none" strike="noStrike" dirty="0" err="1">
                <a:solidFill>
                  <a:srgbClr val="333366"/>
                </a:solidFill>
                <a:effectLst/>
                <a:latin typeface="DM Sans" panose="020F0502020204030204" pitchFamily="2" charset="0"/>
                <a:hlinkClick r:id="rId3"/>
              </a:rPr>
              <a:t>strided</a:t>
            </a:r>
            <a:r>
              <a:rPr lang="en-US" u="none" strike="noStrike" dirty="0">
                <a:solidFill>
                  <a:srgbClr val="333366"/>
                </a:solidFill>
                <a:effectLst/>
                <a:latin typeface="DM Sans" panose="020F0502020204030204" pitchFamily="2" charset="0"/>
                <a:hlinkClick r:id="rId3"/>
              </a:rPr>
              <a:t> convolutional layer</a:t>
            </a:r>
            <a:r>
              <a:rPr lang="en-US" dirty="0"/>
              <a:t>s</a:t>
            </a:r>
            <a:br>
              <a:rPr lang="en-US" dirty="0"/>
            </a:br>
            <a:r>
              <a:rPr lang="en-US" dirty="0"/>
              <a:t/>
            </a:r>
            <a:br>
              <a:rPr lang="en-US" dirty="0"/>
            </a:br>
            <a:r>
              <a:rPr lang="en-US" dirty="0"/>
              <a:t/>
            </a:r>
            <a:br>
              <a:rPr lang="en-US" dirty="0"/>
            </a:br>
            <a:r>
              <a:rPr lang="en-US" dirty="0"/>
              <a:t/>
            </a:r>
            <a:br>
              <a:rPr lang="en-US" dirty="0"/>
            </a:br>
            <a:r>
              <a:rPr lang="en-US" dirty="0"/>
              <a:t/>
            </a:r>
            <a:br>
              <a:rPr lang="en-US" dirty="0"/>
            </a:br>
            <a:r>
              <a:rPr lang="en-US" dirty="0"/>
              <a:t/>
            </a:r>
            <a:br>
              <a:rPr lang="en-US" dirty="0"/>
            </a:br>
            <a:endParaRPr lang="en-IN" dirty="0"/>
          </a:p>
        </p:txBody>
      </p:sp>
    </p:spTree>
    <p:extLst>
      <p:ext uri="{BB962C8B-B14F-4D97-AF65-F5344CB8AC3E}">
        <p14:creationId xmlns:p14="http://schemas.microsoft.com/office/powerpoint/2010/main" val="16726160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19402FAC-B0C0-D259-9C12-74A4DC94CAA8}"/>
              </a:ext>
            </a:extLst>
          </p:cNvPr>
          <p:cNvSpPr txBox="1"/>
          <p:nvPr/>
        </p:nvSpPr>
        <p:spPr>
          <a:xfrm>
            <a:off x="836762" y="621103"/>
            <a:ext cx="10921042" cy="3539430"/>
          </a:xfrm>
          <a:prstGeom prst="rect">
            <a:avLst/>
          </a:prstGeom>
          <a:noFill/>
        </p:spPr>
        <p:txBody>
          <a:bodyPr wrap="square">
            <a:spAutoFit/>
          </a:bodyPr>
          <a:lstStyle/>
          <a:p>
            <a:pPr algn="just"/>
            <a:r>
              <a:rPr lang="en-US" sz="2800" b="1" i="0" dirty="0">
                <a:solidFill>
                  <a:srgbClr val="090A0B"/>
                </a:solidFill>
                <a:effectLst/>
              </a:rPr>
              <a:t>4. </a:t>
            </a:r>
            <a:r>
              <a:rPr lang="en-US" sz="2800" b="1" i="0" dirty="0" err="1">
                <a:solidFill>
                  <a:srgbClr val="090A0B"/>
                </a:solidFill>
                <a:effectLst/>
              </a:rPr>
              <a:t>CycleGAN</a:t>
            </a:r>
            <a:r>
              <a:rPr lang="en-US" sz="2800" b="0" i="0" dirty="0">
                <a:solidFill>
                  <a:srgbClr val="3C484E"/>
                </a:solidFill>
                <a:effectLst/>
              </a:rPr>
              <a:t> - </a:t>
            </a:r>
          </a:p>
          <a:p>
            <a:pPr marL="457200" indent="-457200" algn="just">
              <a:buFont typeface="Arial" panose="020B0604020202020204" pitchFamily="34" charset="0"/>
              <a:buChar char="•"/>
            </a:pPr>
            <a:r>
              <a:rPr lang="en-US" sz="2800" b="0" i="0" dirty="0">
                <a:solidFill>
                  <a:srgbClr val="3C484E"/>
                </a:solidFill>
                <a:effectLst/>
              </a:rPr>
              <a:t>This GAN is made for Image-to-Image translations, meaning one image to be mapped with another image. </a:t>
            </a:r>
            <a:endParaRPr lang="en-US" sz="2800" dirty="0">
              <a:solidFill>
                <a:srgbClr val="3C484E"/>
              </a:solidFill>
            </a:endParaRPr>
          </a:p>
          <a:p>
            <a:pPr marL="457200" indent="-457200" algn="just">
              <a:buFont typeface="Arial" panose="020B0604020202020204" pitchFamily="34" charset="0"/>
              <a:buChar char="•"/>
            </a:pPr>
            <a:r>
              <a:rPr lang="en-US" sz="2800" b="0" i="0" dirty="0">
                <a:solidFill>
                  <a:srgbClr val="3C484E"/>
                </a:solidFill>
                <a:effectLst/>
              </a:rPr>
              <a:t>For example , if summer and winter are made to undergo the process of Image-Image translation we find a mapping function that could convert summer images into that of winter images and vice versa by adding or removing features according to the mapping function, such that the predicted output and actual output have minimized loss.</a:t>
            </a:r>
            <a:endParaRPr lang="en-IN" sz="2800" dirty="0"/>
          </a:p>
        </p:txBody>
      </p:sp>
    </p:spTree>
    <p:extLst>
      <p:ext uri="{BB962C8B-B14F-4D97-AF65-F5344CB8AC3E}">
        <p14:creationId xmlns:p14="http://schemas.microsoft.com/office/powerpoint/2010/main" val="40754425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2">
            <a:extLst>
              <a:ext uri="{FF2B5EF4-FFF2-40B4-BE49-F238E27FC236}">
                <a16:creationId xmlns="" xmlns:a16="http://schemas.microsoft.com/office/drawing/2014/main" id="{1C847CA8-BA7E-6D37-661D-50640750C6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524" y="1147313"/>
            <a:ext cx="11628204" cy="4226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8117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F87A5546-C697-BD9E-FDB0-4B7DD8DAB243}"/>
              </a:ext>
            </a:extLst>
          </p:cNvPr>
          <p:cNvSpPr txBox="1"/>
          <p:nvPr/>
        </p:nvSpPr>
        <p:spPr>
          <a:xfrm>
            <a:off x="474453" y="569344"/>
            <a:ext cx="11179834" cy="1815882"/>
          </a:xfrm>
          <a:prstGeom prst="rect">
            <a:avLst/>
          </a:prstGeom>
          <a:noFill/>
        </p:spPr>
        <p:txBody>
          <a:bodyPr wrap="square">
            <a:spAutoFit/>
          </a:bodyPr>
          <a:lstStyle/>
          <a:p>
            <a:pPr algn="just"/>
            <a:r>
              <a:rPr lang="en-US" sz="2800" b="1" i="0" dirty="0">
                <a:solidFill>
                  <a:srgbClr val="090A0B"/>
                </a:solidFill>
                <a:effectLst/>
              </a:rPr>
              <a:t> 5. Generative Adversarial Text to Image Synthesis</a:t>
            </a:r>
            <a:r>
              <a:rPr lang="en-US" sz="2800" b="0" i="0" dirty="0">
                <a:solidFill>
                  <a:srgbClr val="3C484E"/>
                </a:solidFill>
                <a:effectLst/>
              </a:rPr>
              <a:t> </a:t>
            </a:r>
            <a:endParaRPr lang="en-US" sz="2800" dirty="0">
              <a:solidFill>
                <a:srgbClr val="3C484E"/>
              </a:solidFill>
            </a:endParaRPr>
          </a:p>
          <a:p>
            <a:pPr algn="just"/>
            <a:r>
              <a:rPr lang="en-US" sz="2800" b="0" i="0" dirty="0">
                <a:solidFill>
                  <a:srgbClr val="3C484E"/>
                </a:solidFill>
                <a:effectLst/>
              </a:rPr>
              <a:t>In this the GANs are capable of finding an image from the dataset that is closest to the text description and generate similar images.</a:t>
            </a:r>
          </a:p>
          <a:p>
            <a:pPr algn="just"/>
            <a:endParaRPr lang="en-IN" sz="2800" dirty="0"/>
          </a:p>
        </p:txBody>
      </p:sp>
      <p:pic>
        <p:nvPicPr>
          <p:cNvPr id="5" name="Picture 4">
            <a:extLst>
              <a:ext uri="{FF2B5EF4-FFF2-40B4-BE49-F238E27FC236}">
                <a16:creationId xmlns="" xmlns:a16="http://schemas.microsoft.com/office/drawing/2014/main" id="{92EC2EBD-79F9-5E0F-DE8B-DEC207726CC2}"/>
              </a:ext>
            </a:extLst>
          </p:cNvPr>
          <p:cNvPicPr>
            <a:picLocks noChangeAspect="1"/>
          </p:cNvPicPr>
          <p:nvPr/>
        </p:nvPicPr>
        <p:blipFill>
          <a:blip r:embed="rId2"/>
          <a:stretch>
            <a:fillRect/>
          </a:stretch>
        </p:blipFill>
        <p:spPr>
          <a:xfrm>
            <a:off x="908649" y="2063978"/>
            <a:ext cx="10311441" cy="4613481"/>
          </a:xfrm>
          <a:prstGeom prst="rect">
            <a:avLst/>
          </a:prstGeom>
        </p:spPr>
      </p:pic>
    </p:spTree>
    <p:extLst>
      <p:ext uri="{BB962C8B-B14F-4D97-AF65-F5344CB8AC3E}">
        <p14:creationId xmlns:p14="http://schemas.microsoft.com/office/powerpoint/2010/main" val="39301244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7">
            <a:extLst>
              <a:ext uri="{FF2B5EF4-FFF2-40B4-BE49-F238E27FC236}">
                <a16:creationId xmlns="" xmlns:a16="http://schemas.microsoft.com/office/drawing/2014/main" id="{38F83225-8217-9F8F-C276-5FF2C9A39A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110" y="1595887"/>
            <a:ext cx="11798757" cy="30077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26CE066C-016D-EFD9-2E4C-8EAD849971D3}"/>
              </a:ext>
            </a:extLst>
          </p:cNvPr>
          <p:cNvSpPr txBox="1"/>
          <p:nvPr/>
        </p:nvSpPr>
        <p:spPr>
          <a:xfrm>
            <a:off x="664234" y="4692138"/>
            <a:ext cx="11110823" cy="1384995"/>
          </a:xfrm>
          <a:prstGeom prst="rect">
            <a:avLst/>
          </a:prstGeom>
          <a:noFill/>
        </p:spPr>
        <p:txBody>
          <a:bodyPr wrap="square">
            <a:spAutoFit/>
          </a:bodyPr>
          <a:lstStyle/>
          <a:p>
            <a:pPr algn="just"/>
            <a:r>
              <a:rPr lang="en-US" sz="2800" b="0" i="0" dirty="0">
                <a:solidFill>
                  <a:srgbClr val="3C484E"/>
                </a:solidFill>
                <a:effectLst/>
              </a:rPr>
              <a:t>As you can the generator network is trying to generate based on the description and the </a:t>
            </a:r>
            <a:r>
              <a:rPr lang="en-US" sz="2800" b="0" i="0" dirty="0" err="1">
                <a:solidFill>
                  <a:srgbClr val="3C484E"/>
                </a:solidFill>
                <a:effectLst/>
              </a:rPr>
              <a:t>diffrentiation</a:t>
            </a:r>
            <a:r>
              <a:rPr lang="en-US" sz="2800" b="0" i="0" dirty="0">
                <a:solidFill>
                  <a:srgbClr val="3C484E"/>
                </a:solidFill>
                <a:effectLst/>
              </a:rPr>
              <a:t> is done by the discriminator based off the features mentioned in text description.</a:t>
            </a:r>
            <a:endParaRPr lang="en-IN" sz="2800" dirty="0"/>
          </a:p>
        </p:txBody>
      </p:sp>
    </p:spTree>
    <p:extLst>
      <p:ext uri="{BB962C8B-B14F-4D97-AF65-F5344CB8AC3E}">
        <p14:creationId xmlns:p14="http://schemas.microsoft.com/office/powerpoint/2010/main" val="4057782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930</TotalTime>
  <Words>1146</Words>
  <Application>Microsoft Office PowerPoint</Application>
  <PresentationFormat>Widescreen</PresentationFormat>
  <Paragraphs>112</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Calibri Light</vt:lpstr>
      <vt:lpstr>Cambria Math</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and Neural Network</dc:title>
  <dc:creator>LENOVO</dc:creator>
  <cp:lastModifiedBy>LENOVO</cp:lastModifiedBy>
  <cp:revision>45</cp:revision>
  <dcterms:created xsi:type="dcterms:W3CDTF">2026-01-06T05:17:30Z</dcterms:created>
  <dcterms:modified xsi:type="dcterms:W3CDTF">2026-01-30T08:54:52Z</dcterms:modified>
</cp:coreProperties>
</file>